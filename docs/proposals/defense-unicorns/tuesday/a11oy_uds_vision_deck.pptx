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JetBrains Mono"/>
              </a:rPr>
              <a:t>a11oy.UDS  ·  for Andrew Greene  ·  Tuesday 2026-05-19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D4CFF"/>
                </a:solidFill>
                <a:latin typeface="JetBrains Mono"/>
              </a:rPr>
              <a:t>FOR ANDREW GREENE · DEFENSE UNICORNS · TUESDAY 2026-05-19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0" b="1">
                <a:solidFill>
                  <a:srgbClr val="F5F5F5"/>
                </a:solidFill>
                <a:latin typeface="Inter"/>
              </a:rPr>
              <a:t>a11oy.UDS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A UDS-native, governed agent runtime.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Inheriting UDS guardrails. Carrying a11oy's orchestration DNA.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  <a:latin typeface="JetBrains Mono"/>
              </a:rPr>
              <a:t>Lutar, Stephen P. · ORCID 0009-0001-0110-4173 · SZL Holdings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JetBrains Mono"/>
              </a:rPr>
              <a:t>a11oy.UDS  ·  for Andrew Greene  ·  Tuesday 2026-05-19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54864" cy="320040"/>
          </a:xfrm>
          <a:prstGeom prst="rect">
            <a:avLst/>
          </a:prstGeom>
          <a:solidFill>
            <a:srgbClr val="7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D4CFF"/>
                </a:solidFill>
                <a:latin typeface="JetBrains Mono"/>
              </a:rPr>
              <a:t>POSTURE · SLIDE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5F5F5"/>
                </a:solidFill>
                <a:latin typeface="Inter"/>
              </a:rPr>
              <a:t>Why this name, why this 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The Linux ethos thread: the kernel surface stays small, sharp, and verifiable.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Capabilities mesh in at the policy and admission edges.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/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a11oy is a capability. UDS is the kernel surface.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JetBrains Mono"/>
              </a:rPr>
              <a:t>a11oy.UDS  ·  for Andrew Greene  ·  Tuesday 2026-05-19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54864" cy="320040"/>
          </a:xfrm>
          <a:prstGeom prst="rect">
            <a:avLst/>
          </a:prstGeom>
          <a:solidFill>
            <a:srgbClr val="7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D4CFF"/>
                </a:solidFill>
                <a:latin typeface="JetBrains Mono"/>
              </a:rPr>
              <a:t>INHERITANCE · SLIDE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Inter"/>
              </a:rPr>
              <a:t>What a11oy already carries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3657600" cy="1554480"/>
          </a:xfrm>
          <a:prstGeom prst="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7D4CFF"/>
                </a:solidFill>
                <a:latin typeface="JetBrains Mon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Inter"/>
              </a:rPr>
              <a:t>Orchestration plane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Inter"/>
              </a:rPr>
              <a:t>signal mesh, planner, workcells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194560"/>
            <a:ext cx="3657600" cy="1554480"/>
          </a:xfrm>
          <a:prstGeom prst="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317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7D4CFF"/>
                </a:solidFill>
                <a:latin typeface="JetBrains Mon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9748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Inter"/>
              </a:rPr>
              <a:t>Approval gates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0896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Inter"/>
              </a:rPr>
              <a:t>no material action without human 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194560"/>
            <a:ext cx="3657600" cy="1554480"/>
          </a:xfrm>
          <a:prstGeom prst="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3317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7D4CFF"/>
                </a:solidFill>
                <a:latin typeface="JetBrai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9748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Inter"/>
              </a:rPr>
              <a:t>Artifact registry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10896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Inter"/>
              </a:rPr>
              <a:t>models, prompts, embeddings, evals, agents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886200"/>
            <a:ext cx="3657600" cy="1554480"/>
          </a:xfrm>
          <a:prstGeom prst="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02336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7D4CFF"/>
                </a:solidFill>
                <a:latin typeface="JetBrain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8912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Inter"/>
              </a:rPr>
              <a:t>Proof ledger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006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Inter"/>
              </a:rPr>
              <a:t>append-only, Ed25519 + ML-DSA-65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886200"/>
            <a:ext cx="3657600" cy="1554480"/>
          </a:xfrm>
          <a:prstGeom prst="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02336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7D4CFF"/>
                </a:solidFill>
                <a:latin typeface="JetBrains Mono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38912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Inter"/>
              </a:rPr>
              <a:t>Λ-9 invariant runtime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8006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Inter"/>
              </a:rPr>
              <a:t>Doctrine V6 — 0.90 / 0.95 / 0.95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3886200"/>
            <a:ext cx="3657600" cy="1554480"/>
          </a:xfrm>
          <a:prstGeom prst="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02336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7D4CFF"/>
                </a:solidFill>
                <a:latin typeface="JetBrains Mono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38912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Inter"/>
              </a:rPr>
              <a:t>Recalibration memo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8006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Inter"/>
              </a:rPr>
              <a:t>weekly 'what changed' feed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JetBrains Mono"/>
              </a:rPr>
              <a:t>a11oy.UDS  ·  for Andrew Greene  ·  Tuesday 2026-05-19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54864" cy="320040"/>
          </a:xfrm>
          <a:prstGeom prst="rect">
            <a:avLst/>
          </a:prstGeom>
          <a:solidFill>
            <a:srgbClr val="7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D4CFF"/>
                </a:solidFill>
                <a:latin typeface="JetBrains Mono"/>
              </a:rPr>
              <a:t>INHERITANCE · SLIDE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Inter"/>
              </a:rPr>
              <a:t>What UDS already carries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3657600" cy="1554480"/>
          </a:xfrm>
          <a:prstGeom prst="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7D4CFF"/>
                </a:solidFill>
                <a:latin typeface="JetBrains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Inter"/>
              </a:rPr>
              <a:t>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Inter"/>
              </a:rPr>
              <a:t>Zarf packages, UDS bundles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194560"/>
            <a:ext cx="3657600" cy="1554480"/>
          </a:xfrm>
          <a:prstGeom prst="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317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7D4CFF"/>
                </a:solidFill>
                <a:latin typeface="JetBrains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9748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Inter"/>
              </a:rPr>
              <a:t>Cluster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0896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Inter"/>
              </a:rPr>
              <a:t>uds-core, Pepr admission, NetworkPolicies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194560"/>
            <a:ext cx="3657600" cy="1554480"/>
          </a:xfrm>
          <a:prstGeom prst="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3317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7D4CFF"/>
                </a:solidFill>
                <a:latin typeface="JetBrains Mon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9748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Inter"/>
              </a:rPr>
              <a:t>Identity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10896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Inter"/>
              </a:rPr>
              <a:t>Keycloak SSO, tenant realms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886200"/>
            <a:ext cx="3657600" cy="1554480"/>
          </a:xfrm>
          <a:prstGeom prst="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02336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7D4CFF"/>
                </a:solidFill>
                <a:latin typeface="JetBrains Mon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8912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Inter"/>
              </a:rPr>
              <a:t>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006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Inter"/>
              </a:rPr>
              <a:t>Istio tenant gateway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886200"/>
            <a:ext cx="3657600" cy="1554480"/>
          </a:xfrm>
          <a:prstGeom prst="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02336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7D4CFF"/>
                </a:solidFill>
                <a:latin typeface="JetBrains Mono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38912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Inter"/>
              </a:rPr>
              <a:t>Telemetry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8006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Inter"/>
              </a:rPr>
              <a:t>Loki, Prometheus, Grafana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3886200"/>
            <a:ext cx="3657600" cy="1554480"/>
          </a:xfrm>
          <a:prstGeom prst="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02336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7D4CFF"/>
                </a:solidFill>
                <a:latin typeface="JetBrains Mono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38912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Inter"/>
              </a:rPr>
              <a:t>Distribution at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8006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Inter"/>
              </a:rPr>
              <a:t>OCI registry + SBOM 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JetBrains Mono"/>
              </a:rPr>
              <a:t>a11oy.UDS  ·  for Andrew Greene  ·  Tuesday 2026-05-19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54864" cy="320040"/>
          </a:xfrm>
          <a:prstGeom prst="rect">
            <a:avLst/>
          </a:prstGeom>
          <a:solidFill>
            <a:srgbClr val="7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D4CFF"/>
                </a:solidFill>
                <a:latin typeface="JetBrains Mono"/>
              </a:rPr>
              <a:t>THESIS · SLIDE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Inter"/>
              </a:rPr>
              <a:t>The meshing thesis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103120"/>
          <a:ext cx="109728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8A8A8A"/>
                          </a:solidFill>
                          <a:latin typeface="JetBrains Mono"/>
                        </a:rPr>
                        <a:t>a11oy primitive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8A8A8A"/>
                          </a:solidFill>
                          <a:latin typeface="JetBrains Mono"/>
                        </a:rPr>
                        <a:t>UDS primitive it inherits from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Inter"/>
                        </a:rPr>
                        <a:t>Orchestration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A8A8A"/>
                          </a:solidFill>
                          <a:latin typeface="Inter"/>
                        </a:rPr>
                        <a:t>Pepr operators, Istio tenant gateway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Inter"/>
                        </a:rPr>
                        <a:t>Approval gates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A8A8A"/>
                          </a:solidFill>
                          <a:latin typeface="Inter"/>
                        </a:rPr>
                        <a:t>UDS policy engine, Pepr admission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Inter"/>
                        </a:rPr>
                        <a:t>Artifact registry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A8A8A"/>
                          </a:solidFill>
                          <a:latin typeface="Inter"/>
                        </a:rPr>
                        <a:t>Zarf packages, OCI registry, SBOM flow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Inter"/>
                        </a:rPr>
                        <a:t>Proof ledger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A8A8A"/>
                          </a:solidFill>
                          <a:latin typeface="Inter"/>
                        </a:rPr>
                        <a:t>Loki + signed attestation sidecar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Inter"/>
                        </a:rPr>
                        <a:t>Λ-9 invariant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A8A8A"/>
                          </a:solidFill>
                          <a:latin typeface="Inter"/>
                        </a:rPr>
                        <a:t>Pepr admission module (#5027, merged)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Inter"/>
                        </a:rPr>
                        <a:t>Recalibration memo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A8A8A"/>
                          </a:solidFill>
                          <a:latin typeface="Inter"/>
                        </a:rPr>
                        <a:t>NetworkPolicy-aware cluster inventory feed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JetBrains Mono"/>
              </a:rPr>
              <a:t>a11oy.UDS  ·  for Andrew Greene  ·  Tuesday 2026-05-19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54864" cy="320040"/>
          </a:xfrm>
          <a:prstGeom prst="rect">
            <a:avLst/>
          </a:prstGeom>
          <a:solidFill>
            <a:srgbClr val="7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D4CFF"/>
                </a:solidFill>
                <a:latin typeface="JetBrains Mono"/>
              </a:rPr>
              <a:t>PROBLEM 1 · SLIDE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5F5F5"/>
                </a:solidFill>
                <a:latin typeface="Inter"/>
              </a:rPr>
              <a:t>Trusted AI/agent orchestration</a:t>
            </a:r>
          </a:p>
          <a:p>
            <a:pPr algn="l"/>
            <a:r>
              <a:rPr sz="4000" b="1">
                <a:solidFill>
                  <a:srgbClr val="F5F5F5"/>
                </a:solidFill>
                <a:latin typeface="Inter"/>
              </a:rPr>
              <a:t>inside air-gapped UDS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8A8A8A"/>
                </a:solidFill>
                <a:latin typeface="JetBrains Mono"/>
              </a:rPr>
              <a:t>Strong image / chart provenance.   ✓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JetBrains Mono"/>
              </a:rPr>
              <a:t>Strong identity (Keycloak).        ✓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JetBrains Mono"/>
              </a:rPr>
              <a:t>Strong policy (Pepr).              ✓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JetBrains Mono"/>
              </a:rPr>
              <a:t/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JetBrains Mono"/>
              </a:rPr>
              <a:t>Governed agent runtime with structural approval gates,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JetBrains Mono"/>
              </a:rPr>
              <a:t>immutable tool-call audit, and verifiable offline.   ← gap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B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JetBrains Mono"/>
              </a:rPr>
              <a:t>a11oy.UDS  ·  for Andrew Greene  ·  Tuesday 2026-05-19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54864" cy="320040"/>
          </a:xfrm>
          <a:prstGeom prst="rect">
            <a:avLst/>
          </a:prstGeom>
          <a:solidFill>
            <a:srgbClr val="C9B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B787"/>
                </a:solidFill>
                <a:latin typeface="JetBrains Mono"/>
              </a:rPr>
              <a:t>PROBLEM 2 · SLIDE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5F5F5"/>
                </a:solidFill>
                <a:latin typeface="Inter"/>
              </a:rPr>
              <a:t>A UDS-native artifact spine for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8A8A8A"/>
                </a:solidFill>
                <a:latin typeface="JetBrains Mono"/>
              </a:rPr>
              <a:t>Container images: signed, versioned, attested, lifecycled.   ✓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JetBrains Mono"/>
              </a:rPr>
              <a:t/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JetBrains Mono"/>
              </a:rPr>
              <a:t>Models, prompts, embeddings, agent definitions, evals: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JetBrains Mono"/>
              </a:rPr>
              <a:t>  SBOM-style attestation per artifact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JetBrains Mono"/>
              </a:rPr>
              <a:t>  Signed evals (dev pass means prod pass)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JetBrains Mono"/>
              </a:rPr>
              <a:t>  Drift detection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JetBrains Mono"/>
              </a:rPr>
              <a:t>  Promote / queue / discard, mirroring Zarf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JetBrains Mono"/>
              </a:rPr>
              <a:t>a11oy.UDS  ·  for Andrew Greene  ·  Tuesday 2026-05-19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54864" cy="320040"/>
          </a:xfrm>
          <a:prstGeom prst="rect">
            <a:avLst/>
          </a:prstGeom>
          <a:solidFill>
            <a:srgbClr val="7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D4CFF"/>
                </a:solidFill>
                <a:latin typeface="JetBrains Mono"/>
              </a:rPr>
              <a:t>THE LADDER · SLIDE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Inter"/>
              </a:rPr>
              <a:t>A / B / C — one ladder, one direction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3657600" cy="3291840"/>
          </a:xfrm>
          <a:prstGeom prst="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54864" cy="3291840"/>
          </a:xfrm>
          <a:prstGeom prst="rect">
            <a:avLst/>
          </a:prstGeom>
          <a:solidFill>
            <a:srgbClr val="C9B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B787"/>
                </a:solidFill>
                <a:latin typeface="JetBrains Mono"/>
              </a:rPr>
              <a:t>OPTION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JetBrains Mono"/>
              </a:rPr>
              <a:t>2–3 week proof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74720"/>
            <a:ext cx="3246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Inter"/>
              </a:rPr>
              <a:t>a11oy.UDS as a Zarf bundle payload. Drops into an existing UDS cluster. Inherits everything as-is.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194560"/>
            <a:ext cx="3657600" cy="3291840"/>
          </a:xfrm>
          <a:prstGeom prst="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194560"/>
            <a:ext cx="54864" cy="329184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3774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8A8A"/>
                </a:solidFill>
                <a:latin typeface="JetBrains Mono"/>
              </a:rPr>
              <a:t>OPTION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889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JetBrains Mono"/>
              </a:rPr>
              <a:t>Falls out of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474720"/>
            <a:ext cx="3246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Inter"/>
              </a:rPr>
              <a:t>Primitives ported one-by-one to native UDS components. Done as a by-product of the bundle work.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194560"/>
            <a:ext cx="3657600" cy="3291840"/>
          </a:xfrm>
          <a:prstGeom prst="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2194560"/>
            <a:ext cx="54864" cy="3291840"/>
          </a:xfrm>
          <a:prstGeom prst="rect">
            <a:avLst/>
          </a:prstGeom>
          <a:solidFill>
            <a:srgbClr val="7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23774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7D4CFF"/>
                </a:solidFill>
                <a:latin typeface="JetBrains Mono"/>
              </a:rPr>
              <a:t>OPTION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7889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JetBrains Mono"/>
              </a:rPr>
              <a:t>The real destination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474720"/>
            <a:ext cx="3246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Inter"/>
              </a:rPr>
              <a:t>Full a11oy.UDS ecosystem port. First-class peer of uds-core. Default checkbox at install.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B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JetBrains Mono"/>
              </a:rPr>
              <a:t>a11oy.UDS  ·  for Andrew Greene  ·  Tuesday 2026-05-19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54864" cy="320040"/>
          </a:xfrm>
          <a:prstGeom prst="rect">
            <a:avLst/>
          </a:prstGeom>
          <a:solidFill>
            <a:srgbClr val="C9B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B787"/>
                </a:solidFill>
                <a:latin typeface="JetBrains Mono"/>
              </a:rPr>
              <a:t>PROOF PLAN · SLIDE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Inter"/>
              </a:rPr>
              <a:t>The 2–3 week proof plan (Option A)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3657600" cy="3931920"/>
          </a:xfrm>
          <a:prstGeom prst="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3657600" cy="45720"/>
          </a:xfrm>
          <a:prstGeom prst="rect">
            <a:avLst/>
          </a:prstGeom>
          <a:solidFill>
            <a:srgbClr val="C9B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B787"/>
                </a:solidFill>
                <a:latin typeface="JetBrains Mono"/>
              </a:rPr>
              <a:t>WEEK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Inter"/>
              </a:rPr>
              <a:t>Bundle, identity, observability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32461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A8A"/>
                </a:solidFill>
                <a:latin typeface="Inter"/>
              </a:rPr>
              <a:t>• uds-cli bundle deploy on the reference cluster</a:t>
            </a:r>
          </a:p>
          <a:p>
            <a:pPr algn="l"/>
            <a:r>
              <a:rPr sz="1200" b="0">
                <a:solidFill>
                  <a:srgbClr val="8A8A8A"/>
                </a:solidFill>
                <a:latin typeface="Inter"/>
              </a:rPr>
              <a:t>• Keycloak SSO round-trip end-to-end</a:t>
            </a:r>
          </a:p>
          <a:p>
            <a:pPr algn="l"/>
            <a:r>
              <a:rPr sz="1200" b="0">
                <a:solidFill>
                  <a:srgbClr val="8A8A8A"/>
                </a:solidFill>
                <a:latin typeface="Inter"/>
              </a:rPr>
              <a:t>• Istio tenant gateway routes verified</a:t>
            </a:r>
          </a:p>
          <a:p>
            <a:pPr algn="l"/>
            <a:r>
              <a:rPr sz="1200" b="0">
                <a:solidFill>
                  <a:srgbClr val="8A8A8A"/>
                </a:solidFill>
                <a:latin typeface="Inter"/>
              </a:rPr>
              <a:t>• Loki + Prometheus exporters confirmed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103120"/>
            <a:ext cx="3657600" cy="3931920"/>
          </a:xfrm>
          <a:prstGeom prst="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103120"/>
            <a:ext cx="3657600" cy="45720"/>
          </a:xfrm>
          <a:prstGeom prst="rect">
            <a:avLst/>
          </a:prstGeom>
          <a:solidFill>
            <a:srgbClr val="C9B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3317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B787"/>
                </a:solidFill>
                <a:latin typeface="JetBrains Mono"/>
              </a:rPr>
              <a:t>WEEK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4320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Inter"/>
              </a:rPr>
              <a:t>Approval gates, Λ-9 admission, audit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749040"/>
            <a:ext cx="32461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A8A"/>
                </a:solidFill>
                <a:latin typeface="Inter"/>
              </a:rPr>
              <a:t>• Bad invocation → MATURITY_GATE_BLOCKED</a:t>
            </a:r>
          </a:p>
          <a:p>
            <a:pPr algn="l"/>
            <a:r>
              <a:rPr sz="1200" b="0">
                <a:solidFill>
                  <a:srgbClr val="8A8A8A"/>
                </a:solidFill>
                <a:latin typeface="Inter"/>
              </a:rPr>
              <a:t>• Good invocation → approval queue prompt</a:t>
            </a:r>
          </a:p>
          <a:p>
            <a:pPr algn="l"/>
            <a:r>
              <a:rPr sz="1200" b="0">
                <a:solidFill>
                  <a:srgbClr val="8A8A8A"/>
                </a:solidFill>
                <a:latin typeface="Inter"/>
              </a:rPr>
              <a:t>• Cable pulled — three offline invocations</a:t>
            </a:r>
          </a:p>
          <a:p>
            <a:pPr algn="l"/>
            <a:r>
              <a:rPr sz="1200" b="0">
                <a:solidFill>
                  <a:srgbClr val="8A8A8A"/>
                </a:solidFill>
                <a:latin typeface="Inter"/>
              </a:rPr>
              <a:t>• verify --offline → OK chain=clean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103120"/>
            <a:ext cx="3657600" cy="3931920"/>
          </a:xfrm>
          <a:prstGeom prst="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2103120"/>
            <a:ext cx="3657600" cy="45720"/>
          </a:xfrm>
          <a:prstGeom prst="rect">
            <a:avLst/>
          </a:prstGeom>
          <a:solidFill>
            <a:srgbClr val="C9B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23317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B787"/>
                </a:solidFill>
                <a:latin typeface="JetBrains Mono"/>
              </a:rPr>
              <a:t>WEEK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74320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Inter"/>
              </a:rPr>
              <a:t>Artifact spine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749040"/>
            <a:ext cx="32461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A8A"/>
                </a:solidFill>
                <a:latin typeface="Inter"/>
              </a:rPr>
              <a:t>• AIArtifact CRD applied</a:t>
            </a:r>
          </a:p>
          <a:p>
            <a:pPr algn="l"/>
            <a:r>
              <a:rPr sz="1200" b="0">
                <a:solidFill>
                  <a:srgbClr val="8A8A8A"/>
                </a:solidFill>
                <a:latin typeface="Inter"/>
              </a:rPr>
              <a:t>• All five kinds round-trip lifecycle</a:t>
            </a:r>
          </a:p>
          <a:p>
            <a:pPr algn="l"/>
            <a:r>
              <a:rPr sz="1200" b="0">
                <a:solidFill>
                  <a:srgbClr val="8A8A8A"/>
                </a:solidFill>
                <a:latin typeface="Inter"/>
              </a:rPr>
              <a:t>• Seeded drift surfaces in next memo</a:t>
            </a:r>
          </a:p>
          <a:p>
            <a:pPr algn="l"/>
            <a:r>
              <a:rPr sz="1200" b="0">
                <a:solidFill>
                  <a:srgbClr val="8A8A8A"/>
                </a:solidFill>
                <a:latin typeface="Inter"/>
              </a:rPr>
              <a:t>• Broken-signature promote denied + recorded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JetBrains Mono"/>
              </a:rPr>
              <a:t>a11oy.UDS  ·  for Andrew Greene  ·  Tuesday 2026-05-19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54864" cy="3200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ADE80"/>
                </a:solidFill>
                <a:latin typeface="JetBrains Mono"/>
              </a:rPr>
              <a:t>CREDIBILITY · SLIDE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5F5F5"/>
                </a:solidFill>
                <a:latin typeface="Inter"/>
              </a:rPr>
              <a:t>"The wires are set up"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MERGED: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  uds-cli #5026 — in-bundle hash-chained attestation manifest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  pepr #5027  — Λ-floor admission module (0.90 / 0.95 / 0.95)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  #5028       — three Zarf packages + UDS bundle, attestations sidecar wired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/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LIVE: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  OPA gateway pack — 3 tests, pinned OPA v0.69.0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/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TRACKED: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  #5118 / #5119 — publish + validate housekeeping (out of scope for Tuesday)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JetBrains Mono"/>
              </a:rPr>
              <a:t>a11oy.UDS  ·  for Andrew Greene  ·  Tuesday 2026-05-19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54864" cy="320040"/>
          </a:xfrm>
          <a:prstGeom prst="rect">
            <a:avLst/>
          </a:prstGeom>
          <a:solidFill>
            <a:srgbClr val="7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D4CFF"/>
                </a:solidFill>
                <a:latin typeface="JetBrains Mono"/>
              </a:rPr>
              <a:t>SO WHAT · SLIDE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5F5F5"/>
                </a:solidFill>
                <a:latin typeface="Inter"/>
              </a:rPr>
              <a:t>What credibly-auditable agents unlock</a:t>
            </a:r>
          </a:p>
          <a:p>
            <a:pPr algn="l"/>
            <a:r>
              <a:rPr sz="4000" b="1">
                <a:solidFill>
                  <a:srgbClr val="F5F5F5"/>
                </a:solidFill>
                <a:latin typeface="Inter"/>
              </a:rPr>
              <a:t>for the DoD 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Defensible deployment of LLM-driven decision support inside SCIFs.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Cross-coalition evidence sharing without releasing the model.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Insurance-grade posture claims for AI-driven operations.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A foundation for autonomy the program manager can sign off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JetBrains Mono"/>
              </a:rPr>
              <a:t>a11oy.UDS  ·  for Andrew Greene  ·  Tuesday 2026-05-19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54864" cy="320040"/>
          </a:xfrm>
          <a:prstGeom prst="rect">
            <a:avLst/>
          </a:prstGeom>
          <a:solidFill>
            <a:srgbClr val="7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D4CFF"/>
                </a:solidFill>
                <a:latin typeface="JetBrains Mono"/>
              </a:rPr>
              <a:t>RISKS · SLIDE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5F5F5"/>
                </a:solidFill>
                <a:latin typeface="Inter"/>
              </a:rPr>
              <a:t>Risks we've named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License surface — AGPL ↔ Apache managed by dual-licensed upstream PRs.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Doctrine drift — Λ floors payload-anchored; any change is a replay event.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Scope creep — Option C deliberately gated on Andrew's response to 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B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JetBrains Mono"/>
              </a:rPr>
              <a:t>a11oy.UDS  ·  for Andrew Greene  ·  Tuesday 2026-05-19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54864" cy="320040"/>
          </a:xfrm>
          <a:prstGeom prst="rect">
            <a:avLst/>
          </a:prstGeom>
          <a:solidFill>
            <a:srgbClr val="C9B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B787"/>
                </a:solidFill>
                <a:latin typeface="JetBrains Mono"/>
              </a:rPr>
              <a:t>THE ASK · SLIDE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5F5F5"/>
                </a:solidFill>
                <a:latin typeface="Inter"/>
              </a:rPr>
              <a:t>Four small 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1.  A Mission App target for the Week-3 demo (bland-but-real is best).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2.  Keycloak realm access on a reference cluster.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3.  A 30-minute review window at the end of Week 3.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4.  A thumbs-up to schedule the Option C scoping conversation.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JetBrains Mono"/>
              </a:rPr>
              <a:t>a11oy.UDS  ·  for Andrew Greene  ·  Tuesday 2026-05-19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D4CFF"/>
                </a:solidFill>
                <a:latin typeface="JetBrains Mono"/>
              </a:rPr>
              <a:t>CLOSE · SLIDE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0" b="1">
                <a:solidFill>
                  <a:srgbClr val="F5F5F5"/>
                </a:solidFill>
                <a:latin typeface="Inter"/>
              </a:rPr>
              <a:t>Governed agency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the next primitive the UDS surface deserves —</a:t>
            </a:r>
          </a:p>
          <a:p>
            <a:pPr algn="l"/>
            <a:r>
              <a:rPr sz="1800" b="0">
                <a:solidFill>
                  <a:srgbClr val="8A8A8A"/>
                </a:solidFill>
                <a:latin typeface="Inter"/>
              </a:rPr>
              <a:t>and we can prove it in three weeks without you taking our word for any of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  <a:latin typeface="JetBrains Mono"/>
              </a:rPr>
              <a:t>Lutar, Stephen P. · ORCID 0009-0001-0110-4173 · SZL Holdings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