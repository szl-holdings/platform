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the slide for a beat. Single sentence: "This is the platform that proves what AI decided, why, and on whose authority — by construction, not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'after the fact' hard. That is the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line that separates SZL from every other governed-AI pitch on the market. The math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convergence properties of this loop — when it terminates, what its proof chain looks like — are formalized in the Lutar Invariant family in the published thesis.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makes it a platform, not a portfolio of disconnected apps.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surfaces, not seven. ROSIE was promoted to a customer-facing artifact in the last 48 hours; it is where CPS payloads are operated.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shows we are not just running models — we are governing the act of running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CPS is what makes 'governed AI' a thing you can buy with a P.O. — not a thing you have to take on faith.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v10 is a meta-invariant on v9. It introduces no new physical term. Its only job is to certify, layer by layer, that every formula in v9 actually executes against the live shipping repo. The platform audits its own thesis.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these numbers ships with the verification command in SOURCE_OF_TRUTH.md. We do not estimate.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Trust Plane is what closes the loop with the procurement officer. It is the surface where they get the evidence packet, on demand, with chain-of-custody.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earns trust with a procurement counselor in 30 seconds. Lead with what you don't have.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Investors should ask 'show me.' This path runs the proof spine through five verticals 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Calendar dates we will actually hit. If we do not hit a date, we say why and reset publicly.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fundraising ask. This is a sponsorship-of-readiness ask.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Wait for questions. Don't keep talking.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65760"/>
          </a:xfrm>
          <a:prstGeom prst="rect">
            <a:avLst/>
          </a:prstGeom>
          <a:noFill/>
        </p:spPr>
        <p:txBody>
          <a:bodyPr wrap="square" lIns="0" rIns="0" tIns="0" bIns="0" anchor="t">
            <a:spAutoFit/>
          </a:bodyPr>
          <a:lstStyle/>
          <a:p>
            <a:pPr algn="l">
              <a:lnSpc>
                <a:spcPct val="115000"/>
              </a:lnSpc>
            </a:pPr>
            <a:r>
              <a:rPr sz="1100" b="1" i="0">
                <a:solidFill>
                  <a:srgbClr val="C9B787"/>
                </a:solidFill>
                <a:latin typeface="Calibri"/>
              </a:rPr>
              <a:t>APEX ACCELERATOR  ·  SERIES-A GRADE  ·  v2 REFRESH</a:t>
            </a:r>
          </a:p>
        </p:txBody>
      </p:sp>
      <p:sp>
        <p:nvSpPr>
          <p:cNvPr id="5" name="TextBox 4"/>
          <p:cNvSpPr txBox="1"/>
          <p:nvPr/>
        </p:nvSpPr>
        <p:spPr>
          <a:xfrm>
            <a:off x="640080" y="1463040"/>
            <a:ext cx="10515600" cy="1371600"/>
          </a:xfrm>
          <a:prstGeom prst="rect">
            <a:avLst/>
          </a:prstGeom>
          <a:noFill/>
        </p:spPr>
        <p:txBody>
          <a:bodyPr wrap="square" lIns="0" rIns="0" tIns="0" bIns="0" anchor="t">
            <a:spAutoFit/>
          </a:bodyPr>
          <a:lstStyle/>
          <a:p>
            <a:pPr algn="l">
              <a:lnSpc>
                <a:spcPct val="115000"/>
              </a:lnSpc>
            </a:pPr>
            <a:r>
              <a:rPr sz="7200" b="1" i="0">
                <a:solidFill>
                  <a:srgbClr val="E8ECF1"/>
                </a:solidFill>
                <a:latin typeface="Calibri"/>
              </a:rPr>
              <a:t>SZL Holdings</a:t>
            </a:r>
          </a:p>
        </p:txBody>
      </p:sp>
      <p:sp>
        <p:nvSpPr>
          <p:cNvPr id="6" name="TextBox 5"/>
          <p:cNvSpPr txBox="1"/>
          <p:nvPr/>
        </p:nvSpPr>
        <p:spPr>
          <a:xfrm>
            <a:off x="640080" y="2697480"/>
            <a:ext cx="10515600" cy="731520"/>
          </a:xfrm>
          <a:prstGeom prst="rect">
            <a:avLst/>
          </a:prstGeom>
          <a:noFill/>
        </p:spPr>
        <p:txBody>
          <a:bodyPr wrap="square" lIns="0" rIns="0" tIns="0" bIns="0" anchor="t">
            <a:spAutoFit/>
          </a:bodyPr>
          <a:lstStyle/>
          <a:p>
            <a:pPr algn="l">
              <a:lnSpc>
                <a:spcPct val="115000"/>
              </a:lnSpc>
            </a:pPr>
            <a:r>
              <a:rPr sz="3000" b="0" i="0">
                <a:solidFill>
                  <a:srgbClr val="C9B787"/>
                </a:solidFill>
                <a:latin typeface="Calibri"/>
              </a:rPr>
              <a:t>Governed Operational Intelligence</a:t>
            </a:r>
          </a:p>
        </p:txBody>
      </p:sp>
      <p:sp>
        <p:nvSpPr>
          <p:cNvPr id="7" name="TextBox 6"/>
          <p:cNvSpPr txBox="1"/>
          <p:nvPr/>
        </p:nvSpPr>
        <p:spPr>
          <a:xfrm>
            <a:off x="640080" y="3520440"/>
            <a:ext cx="10515600" cy="914400"/>
          </a:xfrm>
          <a:prstGeom prst="rect">
            <a:avLst/>
          </a:prstGeom>
          <a:noFill/>
        </p:spPr>
        <p:txBody>
          <a:bodyPr wrap="square" lIns="0" rIns="0" tIns="0" bIns="0" anchor="t">
            <a:spAutoFit/>
          </a:bodyPr>
          <a:lstStyle/>
          <a:p>
            <a:pPr algn="l">
              <a:lnSpc>
                <a:spcPct val="125000"/>
              </a:lnSpc>
            </a:pPr>
            <a:r>
              <a:rPr sz="2200" b="0" i="1">
                <a:solidFill>
                  <a:srgbClr val="E8ECF1"/>
                </a:solidFill>
                <a:latin typeface="Calibri"/>
              </a:rPr>
              <a:t>The platform that proves what AI decided,</a:t>
            </a:r>
          </a:p>
          <a:p>
            <a:pPr algn="l">
              <a:lnSpc>
                <a:spcPct val="125000"/>
              </a:lnSpc>
            </a:pPr>
            <a:r>
              <a:rPr sz="2200" b="0" i="1">
                <a:solidFill>
                  <a:srgbClr val="E8ECF1"/>
                </a:solidFill>
                <a:latin typeface="Calibri"/>
              </a:rPr>
              <a:t>why, and on whose authority.</a:t>
            </a:r>
          </a:p>
        </p:txBody>
      </p:sp>
      <p:sp>
        <p:nvSpPr>
          <p:cNvPr id="8" name="Rectangle 7"/>
          <p:cNvSpPr/>
          <p:nvPr/>
        </p:nvSpPr>
        <p:spPr>
          <a:xfrm>
            <a:off x="640080" y="5029200"/>
            <a:ext cx="1828800" cy="1905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166360"/>
            <a:ext cx="10515600" cy="365760"/>
          </a:xfrm>
          <a:prstGeom prst="rect">
            <a:avLst/>
          </a:prstGeom>
          <a:noFill/>
        </p:spPr>
        <p:txBody>
          <a:bodyPr wrap="square" lIns="0" rIns="0" tIns="0" bIns="0" anchor="t">
            <a:spAutoFit/>
          </a:bodyPr>
          <a:lstStyle/>
          <a:p>
            <a:pPr algn="l">
              <a:lnSpc>
                <a:spcPct val="115000"/>
              </a:lnSpc>
            </a:pPr>
            <a:r>
              <a:rPr sz="1600" b="1" i="0">
                <a:solidFill>
                  <a:srgbClr val="E8ECF1"/>
                </a:solidFill>
                <a:latin typeface="Calibri"/>
              </a:rPr>
              <a:t>Stephen Lutar  ·  Founder</a:t>
            </a:r>
          </a:p>
        </p:txBody>
      </p:sp>
      <p:sp>
        <p:nvSpPr>
          <p:cNvPr id="10" name="TextBox 9"/>
          <p:cNvSpPr txBox="1"/>
          <p:nvPr/>
        </p:nvSpPr>
        <p:spPr>
          <a:xfrm>
            <a:off x="640080" y="5532120"/>
            <a:ext cx="10515600" cy="320040"/>
          </a:xfrm>
          <a:prstGeom prst="rect">
            <a:avLst/>
          </a:prstGeom>
          <a:noFill/>
        </p:spPr>
        <p:txBody>
          <a:bodyPr wrap="square" lIns="0" rIns="0" tIns="0" bIns="0" anchor="t">
            <a:spAutoFit/>
          </a:bodyPr>
          <a:lstStyle/>
          <a:p>
            <a:pPr algn="l">
              <a:lnSpc>
                <a:spcPct val="115000"/>
              </a:lnSpc>
            </a:pPr>
            <a:r>
              <a:rPr sz="1200" b="0" i="0">
                <a:solidFill>
                  <a:srgbClr val="9AA6B8"/>
                </a:solidFill>
                <a:latin typeface="Calibri"/>
              </a:rPr>
              <a:t>stephenlutar2@gmail.com</a:t>
            </a:r>
          </a:p>
        </p:txBody>
      </p:sp>
      <p:sp>
        <p:nvSpPr>
          <p:cNvPr id="11" name="TextBox 10"/>
          <p:cNvSpPr txBox="1"/>
          <p:nvPr/>
        </p:nvSpPr>
        <p:spPr>
          <a:xfrm>
            <a:off x="640080" y="5806440"/>
            <a:ext cx="10515600" cy="320040"/>
          </a:xfrm>
          <a:prstGeom prst="rect">
            <a:avLst/>
          </a:prstGeom>
          <a:noFill/>
        </p:spPr>
        <p:txBody>
          <a:bodyPr wrap="square" lIns="0" rIns="0" tIns="0" bIns="0" anchor="t">
            <a:spAutoFit/>
          </a:bodyPr>
          <a:lstStyle/>
          <a:p>
            <a:pPr algn="l">
              <a:lnSpc>
                <a:spcPct val="115000"/>
              </a:lnSpc>
            </a:pPr>
            <a:r>
              <a:rPr sz="1200" b="0" i="0">
                <a:solidFill>
                  <a:srgbClr val="9AA6B8"/>
                </a:solidFill>
                <a:latin typeface="Calibri"/>
              </a:rPr>
              <a:t>github.com/szl-holdings  ·  ORCID 0009-0001-0110-4173</a:t>
            </a:r>
          </a:p>
        </p:txBody>
      </p:sp>
      <p:sp>
        <p:nvSpPr>
          <p:cNvPr id="12" name="TextBox 11"/>
          <p:cNvSpPr txBox="1"/>
          <p:nvPr/>
        </p:nvSpPr>
        <p:spPr>
          <a:xfrm>
            <a:off x="640080" y="6080760"/>
            <a:ext cx="10515600" cy="320040"/>
          </a:xfrm>
          <a:prstGeom prst="rect">
            <a:avLst/>
          </a:prstGeom>
          <a:noFill/>
        </p:spPr>
        <p:txBody>
          <a:bodyPr wrap="square" lIns="0" rIns="0" tIns="0" bIns="0" anchor="t">
            <a:spAutoFit/>
          </a:bodyPr>
          <a:lstStyle/>
          <a:p>
            <a:pPr algn="l">
              <a:lnSpc>
                <a:spcPct val="115000"/>
              </a:lnSpc>
            </a:pPr>
            <a:r>
              <a:rPr sz="1100" b="1" i="0">
                <a:solidFill>
                  <a:srgbClr val="C9B787"/>
                </a:solidFill>
                <a:latin typeface="Calibri"/>
              </a:rPr>
              <a:t>May 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01  ·  THE PROCUREMENT PROBLEM</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Every regulator is converging on the same question.</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94415" cy="457200"/>
          </a:xfrm>
          <a:prstGeom prst="rect">
            <a:avLst/>
          </a:prstGeom>
          <a:noFill/>
        </p:spPr>
        <p:txBody>
          <a:bodyPr wrap="square" lIns="0" rIns="0" tIns="0" bIns="0" anchor="t">
            <a:spAutoFit/>
          </a:bodyPr>
          <a:lstStyle/>
          <a:p>
            <a:pPr algn="l">
              <a:lnSpc>
                <a:spcPct val="115000"/>
              </a:lnSpc>
            </a:pPr>
            <a:r>
              <a:rPr sz="1600" b="0" i="1">
                <a:solidFill>
                  <a:srgbClr val="C9B787"/>
                </a:solidFill>
                <a:latin typeface="Calibri"/>
              </a:rPr>
              <a:t>"Show your work."</a:t>
            </a:r>
          </a:p>
        </p:txBody>
      </p:sp>
      <p:sp>
        <p:nvSpPr>
          <p:cNvPr id="7" name="TextBox 6"/>
          <p:cNvSpPr txBox="1"/>
          <p:nvPr/>
        </p:nvSpPr>
        <p:spPr>
          <a:xfrm>
            <a:off x="548640" y="2468880"/>
            <a:ext cx="11094415" cy="3657600"/>
          </a:xfrm>
          <a:prstGeom prst="rect">
            <a:avLst/>
          </a:prstGeom>
          <a:noFill/>
        </p:spPr>
        <p:txBody>
          <a:bodyPr wrap="square" lIns="0" rIns="0" tIns="0" bIns="0">
            <a:spAutoFit/>
          </a:bodyPr>
          <a:lstStyle/>
          <a:p>
            <a:pPr algn="l">
              <a:lnSpc>
                <a:spcPct val="125000"/>
              </a:lnSpc>
              <a:spcAft>
                <a:spcPts val="800"/>
              </a:spcAft>
            </a:pPr>
            <a:r>
              <a:rPr sz="1800" b="1">
                <a:solidFill>
                  <a:srgbClr val="C9B787"/>
                </a:solidFill>
                <a:latin typeface="Calibri"/>
              </a:rPr>
              <a:t>▸  </a:t>
            </a:r>
            <a:r>
              <a:rPr sz="1800" b="1">
                <a:solidFill>
                  <a:srgbClr val="C9B787"/>
                </a:solidFill>
                <a:latin typeface="Calibri"/>
              </a:rPr>
              <a:t>NIST AI RMF</a:t>
            </a:r>
            <a:r>
              <a:rPr sz="1800" b="0">
                <a:solidFill>
                  <a:srgbClr val="E8ECF1"/>
                </a:solidFill>
                <a:latin typeface="Calibri"/>
              </a:rPr>
              <a:t>, </a:t>
            </a:r>
            <a:r>
              <a:rPr sz="1800" b="1">
                <a:solidFill>
                  <a:srgbClr val="C9B787"/>
                </a:solidFill>
                <a:latin typeface="Calibri"/>
              </a:rPr>
              <a:t>DoD RAI Strategy</a:t>
            </a:r>
            <a:r>
              <a:rPr sz="1800" b="0">
                <a:solidFill>
                  <a:srgbClr val="E8ECF1"/>
                </a:solidFill>
                <a:latin typeface="Calibri"/>
              </a:rPr>
              <a:t>, </a:t>
            </a:r>
            <a:r>
              <a:rPr sz="1800" b="1">
                <a:solidFill>
                  <a:srgbClr val="C9B787"/>
                </a:solidFill>
                <a:latin typeface="Calibri"/>
              </a:rPr>
              <a:t>OMB M-24-10</a:t>
            </a:r>
            <a:r>
              <a:rPr sz="1800" b="0">
                <a:solidFill>
                  <a:srgbClr val="E8ECF1"/>
                </a:solidFill>
                <a:latin typeface="Calibri"/>
              </a:rPr>
              <a:t>, </a:t>
            </a:r>
            <a:r>
              <a:rPr sz="1800" b="1">
                <a:solidFill>
                  <a:srgbClr val="C9B787"/>
                </a:solidFill>
                <a:latin typeface="Calibri"/>
              </a:rPr>
              <a:t>NY S.B. 7599</a:t>
            </a:r>
            <a:r>
              <a:rPr sz="1800" b="0">
                <a:solidFill>
                  <a:srgbClr val="E8ECF1"/>
                </a:solidFill>
                <a:latin typeface="Calibri"/>
              </a:rPr>
              <a:t> — all require runtime auditability at the point of decision.</a:t>
            </a:r>
          </a:p>
          <a:p>
            <a:pPr algn="l">
              <a:lnSpc>
                <a:spcPct val="125000"/>
              </a:lnSpc>
              <a:spcAft>
                <a:spcPts val="800"/>
              </a:spcAft>
            </a:pPr>
            <a:r>
              <a:rPr sz="1800" b="1">
                <a:solidFill>
                  <a:srgbClr val="C9B787"/>
                </a:solidFill>
                <a:latin typeface="Calibri"/>
              </a:rPr>
              <a:t>▸  </a:t>
            </a:r>
            <a:r>
              <a:rPr sz="1800" b="0">
                <a:solidFill>
                  <a:srgbClr val="E8ECF1"/>
                </a:solidFill>
                <a:latin typeface="Calibri"/>
              </a:rPr>
              <a:t>Existing AI vendors ship inference. They reconstruct audit trails after the fact.</a:t>
            </a:r>
          </a:p>
          <a:p>
            <a:pPr algn="l">
              <a:lnSpc>
                <a:spcPct val="125000"/>
              </a:lnSpc>
              <a:spcAft>
                <a:spcPts val="800"/>
              </a:spcAft>
            </a:pPr>
            <a:r>
              <a:rPr sz="1800" b="1">
                <a:solidFill>
                  <a:srgbClr val="C9B787"/>
                </a:solidFill>
                <a:latin typeface="Calibri"/>
              </a:rPr>
              <a:t>▸  </a:t>
            </a:r>
            <a:r>
              <a:rPr sz="1800" b="0">
                <a:solidFill>
                  <a:srgbClr val="E8ECF1"/>
                </a:solidFill>
                <a:latin typeface="Calibri"/>
              </a:rPr>
              <a:t>Human-in-the-loop is a checkbox in their docs. It is not a runtime gate.</a:t>
            </a:r>
          </a:p>
        </p:txBody>
      </p:sp>
      <p:sp>
        <p:nvSpPr>
          <p:cNvPr id="8" name="Rectangle 7"/>
          <p:cNvSpPr/>
          <p:nvPr/>
        </p:nvSpPr>
        <p:spPr>
          <a:xfrm>
            <a:off x="548640" y="5212080"/>
            <a:ext cx="11094415" cy="914400"/>
          </a:xfrm>
          <a:prstGeom prst="rect">
            <a:avLst/>
          </a:prstGeom>
          <a:solidFill>
            <a:srgbClr val="122238"/>
          </a:solidFill>
          <a:ln w="6350">
            <a:solidFill>
              <a:srgbClr val="C9B7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349240"/>
            <a:ext cx="10545775" cy="640080"/>
          </a:xfrm>
          <a:prstGeom prst="rect">
            <a:avLst/>
          </a:prstGeom>
          <a:noFill/>
        </p:spPr>
        <p:txBody>
          <a:bodyPr wrap="square" lIns="0" rIns="0" tIns="0" bIns="0" anchor="ctr">
            <a:spAutoFit/>
          </a:bodyPr>
          <a:lstStyle/>
          <a:p>
            <a:pPr algn="l">
              <a:lnSpc>
                <a:spcPct val="115000"/>
              </a:lnSpc>
            </a:pPr>
            <a:r>
              <a:rPr sz="1400" b="0" i="1">
                <a:solidFill>
                  <a:srgbClr val="C9B787"/>
                </a:solidFill>
                <a:latin typeface="Calibri"/>
              </a:rPr>
              <a:t>The gap is not capability. The gap is proof — at the moment the decision is made.</a:t>
            </a:r>
          </a:p>
        </p:txBody>
      </p:sp>
      <p:sp>
        <p:nvSpPr>
          <p:cNvPr id="10" name="Rectangle 9"/>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12" name="TextBox 11"/>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02  ·  THE THESIS</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The loop is the product.</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94415" cy="457200"/>
          </a:xfrm>
          <a:prstGeom prst="rect">
            <a:avLst/>
          </a:prstGeom>
          <a:noFill/>
        </p:spPr>
        <p:txBody>
          <a:bodyPr wrap="square" lIns="0" rIns="0" tIns="0" bIns="0" anchor="t">
            <a:spAutoFit/>
          </a:bodyPr>
          <a:lstStyle/>
          <a:p>
            <a:pPr algn="l">
              <a:lnSpc>
                <a:spcPct val="115000"/>
              </a:lnSpc>
            </a:pPr>
            <a:r>
              <a:rPr sz="1600" b="0" i="1">
                <a:solidFill>
                  <a:srgbClr val="C9B787"/>
                </a:solidFill>
                <a:latin typeface="Calibri"/>
              </a:rPr>
              <a:t>A bounded, governed, auditable decision loop — formalized as a mathematical invariant, shipped as a runtime.</a:t>
            </a:r>
          </a:p>
        </p:txBody>
      </p:sp>
      <p:sp>
        <p:nvSpPr>
          <p:cNvPr id="7" name="Rectangle 6"/>
          <p:cNvSpPr/>
          <p:nvPr/>
        </p:nvSpPr>
        <p:spPr>
          <a:xfrm>
            <a:off x="449427" y="2468880"/>
            <a:ext cx="3611880" cy="329184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9427" y="2468880"/>
            <a:ext cx="361188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3747" y="2697480"/>
            <a:ext cx="3063240" cy="365760"/>
          </a:xfrm>
          <a:prstGeom prst="rect">
            <a:avLst/>
          </a:prstGeom>
          <a:noFill/>
        </p:spPr>
        <p:txBody>
          <a:bodyPr wrap="square" lIns="0" rIns="0" tIns="0" bIns="0" anchor="t">
            <a:spAutoFit/>
          </a:bodyPr>
          <a:lstStyle/>
          <a:p>
            <a:pPr algn="l">
              <a:lnSpc>
                <a:spcPct val="115000"/>
              </a:lnSpc>
            </a:pPr>
            <a:r>
              <a:rPr sz="1100" b="1" i="0">
                <a:solidFill>
                  <a:srgbClr val="C9B787"/>
                </a:solidFill>
                <a:latin typeface="Calibri"/>
              </a:rPr>
              <a:t>THE MATH</a:t>
            </a:r>
          </a:p>
        </p:txBody>
      </p:sp>
      <p:sp>
        <p:nvSpPr>
          <p:cNvPr id="10" name="TextBox 9"/>
          <p:cNvSpPr txBox="1"/>
          <p:nvPr/>
        </p:nvSpPr>
        <p:spPr>
          <a:xfrm>
            <a:off x="723747" y="3108960"/>
            <a:ext cx="3063240" cy="914400"/>
          </a:xfrm>
          <a:prstGeom prst="rect">
            <a:avLst/>
          </a:prstGeom>
          <a:noFill/>
        </p:spPr>
        <p:txBody>
          <a:bodyPr wrap="square" lIns="0" rIns="0" tIns="0" bIns="0" anchor="t">
            <a:spAutoFit/>
          </a:bodyPr>
          <a:lstStyle/>
          <a:p>
            <a:pPr algn="l">
              <a:lnSpc>
                <a:spcPct val="120000"/>
              </a:lnSpc>
            </a:pPr>
            <a:r>
              <a:rPr sz="1800" b="1" i="0">
                <a:solidFill>
                  <a:srgbClr val="E8ECF1"/>
                </a:solidFill>
                <a:latin typeface="Calibri"/>
              </a:rPr>
              <a:t>Ouroboros Thesis v3, v9, v10</a:t>
            </a:r>
          </a:p>
        </p:txBody>
      </p:sp>
      <p:sp>
        <p:nvSpPr>
          <p:cNvPr id="11" name="TextBox 10"/>
          <p:cNvSpPr txBox="1"/>
          <p:nvPr/>
        </p:nvSpPr>
        <p:spPr>
          <a:xfrm>
            <a:off x="723747" y="4297680"/>
            <a:ext cx="3063240" cy="1371600"/>
          </a:xfrm>
          <a:prstGeom prst="rect">
            <a:avLst/>
          </a:prstGeom>
          <a:noFill/>
        </p:spPr>
        <p:txBody>
          <a:bodyPr wrap="square" lIns="0" rIns="0" tIns="0" bIns="0" anchor="t">
            <a:spAutoFit/>
          </a:bodyPr>
          <a:lstStyle/>
          <a:p>
            <a:pPr algn="l">
              <a:lnSpc>
                <a:spcPct val="135000"/>
              </a:lnSpc>
            </a:pPr>
            <a:r>
              <a:rPr sz="1300" b="0" i="0">
                <a:solidFill>
                  <a:srgbClr val="9AA6B8"/>
                </a:solidFill>
                <a:latin typeface="Calibri"/>
              </a:rPr>
              <a:t>DOI-pinned on Zenodo. CC-BY-4.0. Public, citable, reproducible.</a:t>
            </a:r>
          </a:p>
        </p:txBody>
      </p:sp>
      <p:sp>
        <p:nvSpPr>
          <p:cNvPr id="12" name="Rectangle 11"/>
          <p:cNvSpPr/>
          <p:nvPr/>
        </p:nvSpPr>
        <p:spPr>
          <a:xfrm>
            <a:off x="4289907" y="2468880"/>
            <a:ext cx="3611880" cy="329184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89907" y="2468880"/>
            <a:ext cx="361188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4227" y="2697480"/>
            <a:ext cx="3063240" cy="365760"/>
          </a:xfrm>
          <a:prstGeom prst="rect">
            <a:avLst/>
          </a:prstGeom>
          <a:noFill/>
        </p:spPr>
        <p:txBody>
          <a:bodyPr wrap="square" lIns="0" rIns="0" tIns="0" bIns="0" anchor="t">
            <a:spAutoFit/>
          </a:bodyPr>
          <a:lstStyle/>
          <a:p>
            <a:pPr algn="l">
              <a:lnSpc>
                <a:spcPct val="115000"/>
              </a:lnSpc>
            </a:pPr>
            <a:r>
              <a:rPr sz="1100" b="1" i="0">
                <a:solidFill>
                  <a:srgbClr val="C9B787"/>
                </a:solidFill>
                <a:latin typeface="Calibri"/>
              </a:rPr>
              <a:t>THE RUNTIME</a:t>
            </a:r>
          </a:p>
        </p:txBody>
      </p:sp>
      <p:sp>
        <p:nvSpPr>
          <p:cNvPr id="15" name="TextBox 14"/>
          <p:cNvSpPr txBox="1"/>
          <p:nvPr/>
        </p:nvSpPr>
        <p:spPr>
          <a:xfrm>
            <a:off x="4564227" y="3108960"/>
            <a:ext cx="3063240" cy="914400"/>
          </a:xfrm>
          <a:prstGeom prst="rect">
            <a:avLst/>
          </a:prstGeom>
          <a:noFill/>
        </p:spPr>
        <p:txBody>
          <a:bodyPr wrap="square" lIns="0" rIns="0" tIns="0" bIns="0" anchor="t">
            <a:spAutoFit/>
          </a:bodyPr>
          <a:lstStyle/>
          <a:p>
            <a:pPr algn="l">
              <a:lnSpc>
                <a:spcPct val="120000"/>
              </a:lnSpc>
            </a:pPr>
            <a:r>
              <a:rPr sz="1800" b="1" i="0">
                <a:solidFill>
                  <a:srgbClr val="E8ECF1"/>
                </a:solidFill>
                <a:latin typeface="Calibri"/>
              </a:rPr>
              <a:t>@szl-holdings/ouroboros v6.2.0</a:t>
            </a:r>
          </a:p>
        </p:txBody>
      </p:sp>
      <p:sp>
        <p:nvSpPr>
          <p:cNvPr id="16" name="TextBox 15"/>
          <p:cNvSpPr txBox="1"/>
          <p:nvPr/>
        </p:nvSpPr>
        <p:spPr>
          <a:xfrm>
            <a:off x="4564227" y="4297680"/>
            <a:ext cx="3063240" cy="1371600"/>
          </a:xfrm>
          <a:prstGeom prst="rect">
            <a:avLst/>
          </a:prstGeom>
          <a:noFill/>
        </p:spPr>
        <p:txBody>
          <a:bodyPr wrap="square" lIns="0" rIns="0" tIns="0" bIns="0" anchor="t">
            <a:spAutoFit/>
          </a:bodyPr>
          <a:lstStyle/>
          <a:p>
            <a:pPr algn="l">
              <a:lnSpc>
                <a:spcPct val="135000"/>
              </a:lnSpc>
            </a:pPr>
            <a:r>
              <a:rPr sz="1300" b="0" i="0">
                <a:solidFill>
                  <a:srgbClr val="9AA6B8"/>
                </a:solidFill>
                <a:latin typeface="Calibri"/>
              </a:rPr>
              <a:t>Open source. Full test suite. CodeQL clean. Live on GitHub.</a:t>
            </a:r>
          </a:p>
        </p:txBody>
      </p:sp>
      <p:sp>
        <p:nvSpPr>
          <p:cNvPr id="17" name="Rectangle 16"/>
          <p:cNvSpPr/>
          <p:nvPr/>
        </p:nvSpPr>
        <p:spPr>
          <a:xfrm>
            <a:off x="8130387" y="2468880"/>
            <a:ext cx="3611880" cy="329184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30387" y="2468880"/>
            <a:ext cx="361188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04707" y="2697480"/>
            <a:ext cx="3063240" cy="365760"/>
          </a:xfrm>
          <a:prstGeom prst="rect">
            <a:avLst/>
          </a:prstGeom>
          <a:noFill/>
        </p:spPr>
        <p:txBody>
          <a:bodyPr wrap="square" lIns="0" rIns="0" tIns="0" bIns="0" anchor="t">
            <a:spAutoFit/>
          </a:bodyPr>
          <a:lstStyle/>
          <a:p>
            <a:pPr algn="l">
              <a:lnSpc>
                <a:spcPct val="115000"/>
              </a:lnSpc>
            </a:pPr>
            <a:r>
              <a:rPr sz="1100" b="1" i="0">
                <a:solidFill>
                  <a:srgbClr val="C9B787"/>
                </a:solidFill>
                <a:latin typeface="Calibri"/>
              </a:rPr>
              <a:t>THE AUDIT</a:t>
            </a:r>
          </a:p>
        </p:txBody>
      </p:sp>
      <p:sp>
        <p:nvSpPr>
          <p:cNvPr id="20" name="TextBox 19"/>
          <p:cNvSpPr txBox="1"/>
          <p:nvPr/>
        </p:nvSpPr>
        <p:spPr>
          <a:xfrm>
            <a:off x="8404707" y="3108960"/>
            <a:ext cx="3063240" cy="914400"/>
          </a:xfrm>
          <a:prstGeom prst="rect">
            <a:avLst/>
          </a:prstGeom>
          <a:noFill/>
        </p:spPr>
        <p:txBody>
          <a:bodyPr wrap="square" lIns="0" rIns="0" tIns="0" bIns="0" anchor="t">
            <a:spAutoFit/>
          </a:bodyPr>
          <a:lstStyle/>
          <a:p>
            <a:pPr algn="l">
              <a:lnSpc>
                <a:spcPct val="120000"/>
              </a:lnSpc>
            </a:pPr>
            <a:r>
              <a:rPr sz="1800" b="1" i="0">
                <a:solidFill>
                  <a:srgbClr val="E8ECF1"/>
                </a:solidFill>
                <a:latin typeface="Calibri"/>
              </a:rPr>
              <a:t>CPS Standard + Trust Plane + Agent Gateway</a:t>
            </a:r>
          </a:p>
        </p:txBody>
      </p:sp>
      <p:sp>
        <p:nvSpPr>
          <p:cNvPr id="21" name="TextBox 20"/>
          <p:cNvSpPr txBox="1"/>
          <p:nvPr/>
        </p:nvSpPr>
        <p:spPr>
          <a:xfrm>
            <a:off x="8404707" y="4297680"/>
            <a:ext cx="3063240" cy="1371600"/>
          </a:xfrm>
          <a:prstGeom prst="rect">
            <a:avLst/>
          </a:prstGeom>
          <a:noFill/>
        </p:spPr>
        <p:txBody>
          <a:bodyPr wrap="square" lIns="0" rIns="0" tIns="0" bIns="0" anchor="t">
            <a:spAutoFit/>
          </a:bodyPr>
          <a:lstStyle/>
          <a:p>
            <a:pPr algn="l">
              <a:lnSpc>
                <a:spcPct val="135000"/>
              </a:lnSpc>
            </a:pPr>
            <a:r>
              <a:rPr sz="1300" b="0" i="0">
                <a:solidFill>
                  <a:srgbClr val="9AA6B8"/>
                </a:solidFill>
                <a:latin typeface="Calibri"/>
              </a:rPr>
              <a:t>The audit is the system itself — not a downstream report.</a:t>
            </a:r>
          </a:p>
        </p:txBody>
      </p:sp>
      <p:sp>
        <p:nvSpPr>
          <p:cNvPr id="22" name="Rectangle 21"/>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24" name="TextBox 23"/>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03  ·  THE LOOP</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One loop. Five stages. Run continuously.</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4291" y="2377440"/>
            <a:ext cx="2148840" cy="338328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2891" y="2606040"/>
            <a:ext cx="1691640" cy="548640"/>
          </a:xfrm>
          <a:prstGeom prst="rect">
            <a:avLst/>
          </a:prstGeom>
          <a:noFill/>
        </p:spPr>
        <p:txBody>
          <a:bodyPr wrap="square" lIns="0" rIns="0" tIns="0" bIns="0" anchor="t">
            <a:spAutoFit/>
          </a:bodyPr>
          <a:lstStyle/>
          <a:p>
            <a:pPr algn="l">
              <a:lnSpc>
                <a:spcPct val="115000"/>
              </a:lnSpc>
            </a:pPr>
            <a:r>
              <a:rPr sz="2800" b="1" i="0">
                <a:solidFill>
                  <a:srgbClr val="C9B787"/>
                </a:solidFill>
                <a:latin typeface="Calibri"/>
              </a:rPr>
              <a:t>01</a:t>
            </a:r>
          </a:p>
        </p:txBody>
      </p:sp>
      <p:sp>
        <p:nvSpPr>
          <p:cNvPr id="8" name="TextBox 7"/>
          <p:cNvSpPr txBox="1"/>
          <p:nvPr/>
        </p:nvSpPr>
        <p:spPr>
          <a:xfrm>
            <a:off x="732891" y="3246120"/>
            <a:ext cx="1691640" cy="365760"/>
          </a:xfrm>
          <a:prstGeom prst="rect">
            <a:avLst/>
          </a:prstGeom>
          <a:noFill/>
        </p:spPr>
        <p:txBody>
          <a:bodyPr wrap="square" lIns="0" rIns="0" tIns="0" bIns="0" anchor="t">
            <a:spAutoFit/>
          </a:bodyPr>
          <a:lstStyle/>
          <a:p>
            <a:pPr algn="l">
              <a:lnSpc>
                <a:spcPct val="115000"/>
              </a:lnSpc>
            </a:pPr>
            <a:r>
              <a:rPr sz="1400" b="1" i="0">
                <a:solidFill>
                  <a:srgbClr val="E8ECF1"/>
                </a:solidFill>
                <a:latin typeface="Calibri"/>
              </a:rPr>
              <a:t>INGEST</a:t>
            </a:r>
          </a:p>
        </p:txBody>
      </p:sp>
      <p:sp>
        <p:nvSpPr>
          <p:cNvPr id="9" name="Rectangle 8"/>
          <p:cNvSpPr/>
          <p:nvPr/>
        </p:nvSpPr>
        <p:spPr>
          <a:xfrm>
            <a:off x="732891" y="3657600"/>
            <a:ext cx="365760" cy="1905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2891" y="3794760"/>
            <a:ext cx="1691640" cy="1828800"/>
          </a:xfrm>
          <a:prstGeom prst="rect">
            <a:avLst/>
          </a:prstGeom>
          <a:noFill/>
        </p:spPr>
        <p:txBody>
          <a:bodyPr wrap="square" lIns="0" rIns="0" tIns="0" bIns="0" anchor="t">
            <a:spAutoFit/>
          </a:bodyPr>
          <a:lstStyle/>
          <a:p>
            <a:pPr algn="l">
              <a:lnSpc>
                <a:spcPct val="140000"/>
              </a:lnSpc>
            </a:pPr>
            <a:r>
              <a:rPr sz="1100" b="0" i="0">
                <a:solidFill>
                  <a:srgbClr val="9AA6B8"/>
                </a:solidFill>
                <a:latin typeface="Calibri"/>
              </a:rPr>
              <a:t>Normalize signals across systems</a:t>
            </a:r>
          </a:p>
        </p:txBody>
      </p:sp>
      <p:sp>
        <p:nvSpPr>
          <p:cNvPr id="11" name="TextBox 10"/>
          <p:cNvSpPr txBox="1"/>
          <p:nvPr/>
        </p:nvSpPr>
        <p:spPr>
          <a:xfrm>
            <a:off x="2657703" y="3931920"/>
            <a:ext cx="109728" cy="365760"/>
          </a:xfrm>
          <a:prstGeom prst="rect">
            <a:avLst/>
          </a:prstGeom>
          <a:noFill/>
        </p:spPr>
        <p:txBody>
          <a:bodyPr wrap="square" lIns="0" rIns="0" tIns="0" bIns="0" anchor="t">
            <a:spAutoFit/>
          </a:bodyPr>
          <a:lstStyle/>
          <a:p>
            <a:pPr algn="ctr">
              <a:lnSpc>
                <a:spcPct val="115000"/>
              </a:lnSpc>
            </a:pPr>
            <a:r>
              <a:rPr sz="2200" b="1" i="0">
                <a:solidFill>
                  <a:srgbClr val="C9B787"/>
                </a:solidFill>
                <a:latin typeface="Calibri"/>
              </a:rPr>
              <a:t>›</a:t>
            </a:r>
          </a:p>
        </p:txBody>
      </p:sp>
      <p:sp>
        <p:nvSpPr>
          <p:cNvPr id="12" name="Rectangle 11"/>
          <p:cNvSpPr/>
          <p:nvPr/>
        </p:nvSpPr>
        <p:spPr>
          <a:xfrm>
            <a:off x="2762859" y="2377440"/>
            <a:ext cx="2148840" cy="338328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1459" y="2606040"/>
            <a:ext cx="1691640" cy="548640"/>
          </a:xfrm>
          <a:prstGeom prst="rect">
            <a:avLst/>
          </a:prstGeom>
          <a:noFill/>
        </p:spPr>
        <p:txBody>
          <a:bodyPr wrap="square" lIns="0" rIns="0" tIns="0" bIns="0" anchor="t">
            <a:spAutoFit/>
          </a:bodyPr>
          <a:lstStyle/>
          <a:p>
            <a:pPr algn="l">
              <a:lnSpc>
                <a:spcPct val="115000"/>
              </a:lnSpc>
            </a:pPr>
            <a:r>
              <a:rPr sz="2800" b="1" i="0">
                <a:solidFill>
                  <a:srgbClr val="C9B787"/>
                </a:solidFill>
                <a:latin typeface="Calibri"/>
              </a:rPr>
              <a:t>02</a:t>
            </a:r>
          </a:p>
        </p:txBody>
      </p:sp>
      <p:sp>
        <p:nvSpPr>
          <p:cNvPr id="14" name="TextBox 13"/>
          <p:cNvSpPr txBox="1"/>
          <p:nvPr/>
        </p:nvSpPr>
        <p:spPr>
          <a:xfrm>
            <a:off x="2991459" y="3246120"/>
            <a:ext cx="1691640" cy="365760"/>
          </a:xfrm>
          <a:prstGeom prst="rect">
            <a:avLst/>
          </a:prstGeom>
          <a:noFill/>
        </p:spPr>
        <p:txBody>
          <a:bodyPr wrap="square" lIns="0" rIns="0" tIns="0" bIns="0" anchor="t">
            <a:spAutoFit/>
          </a:bodyPr>
          <a:lstStyle/>
          <a:p>
            <a:pPr algn="l">
              <a:lnSpc>
                <a:spcPct val="115000"/>
              </a:lnSpc>
            </a:pPr>
            <a:r>
              <a:rPr sz="1400" b="1" i="0">
                <a:solidFill>
                  <a:srgbClr val="E8ECF1"/>
                </a:solidFill>
                <a:latin typeface="Calibri"/>
              </a:rPr>
              <a:t>SCORE</a:t>
            </a:r>
          </a:p>
        </p:txBody>
      </p:sp>
      <p:sp>
        <p:nvSpPr>
          <p:cNvPr id="15" name="Rectangle 14"/>
          <p:cNvSpPr/>
          <p:nvPr/>
        </p:nvSpPr>
        <p:spPr>
          <a:xfrm>
            <a:off x="2991459" y="3657600"/>
            <a:ext cx="365760" cy="1905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1459" y="3794760"/>
            <a:ext cx="1691640" cy="1828800"/>
          </a:xfrm>
          <a:prstGeom prst="rect">
            <a:avLst/>
          </a:prstGeom>
          <a:noFill/>
        </p:spPr>
        <p:txBody>
          <a:bodyPr wrap="square" lIns="0" rIns="0" tIns="0" bIns="0" anchor="t">
            <a:spAutoFit/>
          </a:bodyPr>
          <a:lstStyle/>
          <a:p>
            <a:pPr algn="l">
              <a:lnSpc>
                <a:spcPct val="140000"/>
              </a:lnSpc>
            </a:pPr>
            <a:r>
              <a:rPr sz="1100" b="0" i="0">
                <a:solidFill>
                  <a:srgbClr val="9AA6B8"/>
                </a:solidFill>
                <a:latin typeface="Calibri"/>
              </a:rPr>
              <a:t>Risk-score against policy in real time</a:t>
            </a:r>
          </a:p>
        </p:txBody>
      </p:sp>
      <p:sp>
        <p:nvSpPr>
          <p:cNvPr id="17" name="TextBox 16"/>
          <p:cNvSpPr txBox="1"/>
          <p:nvPr/>
        </p:nvSpPr>
        <p:spPr>
          <a:xfrm>
            <a:off x="4916271" y="3931920"/>
            <a:ext cx="109728" cy="365760"/>
          </a:xfrm>
          <a:prstGeom prst="rect">
            <a:avLst/>
          </a:prstGeom>
          <a:noFill/>
        </p:spPr>
        <p:txBody>
          <a:bodyPr wrap="square" lIns="0" rIns="0" tIns="0" bIns="0" anchor="t">
            <a:spAutoFit/>
          </a:bodyPr>
          <a:lstStyle/>
          <a:p>
            <a:pPr algn="ctr">
              <a:lnSpc>
                <a:spcPct val="115000"/>
              </a:lnSpc>
            </a:pPr>
            <a:r>
              <a:rPr sz="2200" b="1" i="0">
                <a:solidFill>
                  <a:srgbClr val="C9B787"/>
                </a:solidFill>
                <a:latin typeface="Calibri"/>
              </a:rPr>
              <a:t>›</a:t>
            </a:r>
          </a:p>
        </p:txBody>
      </p:sp>
      <p:sp>
        <p:nvSpPr>
          <p:cNvPr id="18" name="Rectangle 17"/>
          <p:cNvSpPr/>
          <p:nvPr/>
        </p:nvSpPr>
        <p:spPr>
          <a:xfrm>
            <a:off x="5021427" y="2377440"/>
            <a:ext cx="2148840" cy="338328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0027" y="2606040"/>
            <a:ext cx="1691640" cy="548640"/>
          </a:xfrm>
          <a:prstGeom prst="rect">
            <a:avLst/>
          </a:prstGeom>
          <a:noFill/>
        </p:spPr>
        <p:txBody>
          <a:bodyPr wrap="square" lIns="0" rIns="0" tIns="0" bIns="0" anchor="t">
            <a:spAutoFit/>
          </a:bodyPr>
          <a:lstStyle/>
          <a:p>
            <a:pPr algn="l">
              <a:lnSpc>
                <a:spcPct val="115000"/>
              </a:lnSpc>
            </a:pPr>
            <a:r>
              <a:rPr sz="2800" b="1" i="0">
                <a:solidFill>
                  <a:srgbClr val="C9B787"/>
                </a:solidFill>
                <a:latin typeface="Calibri"/>
              </a:rPr>
              <a:t>03</a:t>
            </a:r>
          </a:p>
        </p:txBody>
      </p:sp>
      <p:sp>
        <p:nvSpPr>
          <p:cNvPr id="20" name="TextBox 19"/>
          <p:cNvSpPr txBox="1"/>
          <p:nvPr/>
        </p:nvSpPr>
        <p:spPr>
          <a:xfrm>
            <a:off x="5250027" y="3246120"/>
            <a:ext cx="1691640" cy="365760"/>
          </a:xfrm>
          <a:prstGeom prst="rect">
            <a:avLst/>
          </a:prstGeom>
          <a:noFill/>
        </p:spPr>
        <p:txBody>
          <a:bodyPr wrap="square" lIns="0" rIns="0" tIns="0" bIns="0" anchor="t">
            <a:spAutoFit/>
          </a:bodyPr>
          <a:lstStyle/>
          <a:p>
            <a:pPr algn="l">
              <a:lnSpc>
                <a:spcPct val="115000"/>
              </a:lnSpc>
            </a:pPr>
            <a:r>
              <a:rPr sz="1400" b="1" i="0">
                <a:solidFill>
                  <a:srgbClr val="E8ECF1"/>
                </a:solidFill>
                <a:latin typeface="Calibri"/>
              </a:rPr>
              <a:t>DECIDE</a:t>
            </a:r>
          </a:p>
        </p:txBody>
      </p:sp>
      <p:sp>
        <p:nvSpPr>
          <p:cNvPr id="21" name="Rectangle 20"/>
          <p:cNvSpPr/>
          <p:nvPr/>
        </p:nvSpPr>
        <p:spPr>
          <a:xfrm>
            <a:off x="5250027" y="3657600"/>
            <a:ext cx="365760" cy="1905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0027" y="3794760"/>
            <a:ext cx="1691640" cy="1828800"/>
          </a:xfrm>
          <a:prstGeom prst="rect">
            <a:avLst/>
          </a:prstGeom>
          <a:noFill/>
        </p:spPr>
        <p:txBody>
          <a:bodyPr wrap="square" lIns="0" rIns="0" tIns="0" bIns="0" anchor="t">
            <a:spAutoFit/>
          </a:bodyPr>
          <a:lstStyle/>
          <a:p>
            <a:pPr algn="l">
              <a:lnSpc>
                <a:spcPct val="140000"/>
              </a:lnSpc>
            </a:pPr>
            <a:r>
              <a:rPr sz="1100" b="0" i="0">
                <a:solidFill>
                  <a:srgbClr val="9AA6B8"/>
                </a:solidFill>
                <a:latin typeface="Calibri"/>
              </a:rPr>
              <a:t>AI-supported decisions, policy-gated approvals</a:t>
            </a:r>
          </a:p>
        </p:txBody>
      </p:sp>
      <p:sp>
        <p:nvSpPr>
          <p:cNvPr id="23" name="TextBox 22"/>
          <p:cNvSpPr txBox="1"/>
          <p:nvPr/>
        </p:nvSpPr>
        <p:spPr>
          <a:xfrm>
            <a:off x="7174839" y="3931920"/>
            <a:ext cx="109728" cy="365760"/>
          </a:xfrm>
          <a:prstGeom prst="rect">
            <a:avLst/>
          </a:prstGeom>
          <a:noFill/>
        </p:spPr>
        <p:txBody>
          <a:bodyPr wrap="square" lIns="0" rIns="0" tIns="0" bIns="0" anchor="t">
            <a:spAutoFit/>
          </a:bodyPr>
          <a:lstStyle/>
          <a:p>
            <a:pPr algn="ctr">
              <a:lnSpc>
                <a:spcPct val="115000"/>
              </a:lnSpc>
            </a:pPr>
            <a:r>
              <a:rPr sz="2200" b="1" i="0">
                <a:solidFill>
                  <a:srgbClr val="C9B787"/>
                </a:solidFill>
                <a:latin typeface="Calibri"/>
              </a:rPr>
              <a:t>›</a:t>
            </a:r>
          </a:p>
        </p:txBody>
      </p:sp>
      <p:sp>
        <p:nvSpPr>
          <p:cNvPr id="24" name="Rectangle 23"/>
          <p:cNvSpPr/>
          <p:nvPr/>
        </p:nvSpPr>
        <p:spPr>
          <a:xfrm>
            <a:off x="7279995" y="2377440"/>
            <a:ext cx="2148840" cy="338328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08595" y="2606040"/>
            <a:ext cx="1691640" cy="548640"/>
          </a:xfrm>
          <a:prstGeom prst="rect">
            <a:avLst/>
          </a:prstGeom>
          <a:noFill/>
        </p:spPr>
        <p:txBody>
          <a:bodyPr wrap="square" lIns="0" rIns="0" tIns="0" bIns="0" anchor="t">
            <a:spAutoFit/>
          </a:bodyPr>
          <a:lstStyle/>
          <a:p>
            <a:pPr algn="l">
              <a:lnSpc>
                <a:spcPct val="115000"/>
              </a:lnSpc>
            </a:pPr>
            <a:r>
              <a:rPr sz="2800" b="1" i="0">
                <a:solidFill>
                  <a:srgbClr val="C9B787"/>
                </a:solidFill>
                <a:latin typeface="Calibri"/>
              </a:rPr>
              <a:t>04</a:t>
            </a:r>
          </a:p>
        </p:txBody>
      </p:sp>
      <p:sp>
        <p:nvSpPr>
          <p:cNvPr id="26" name="TextBox 25"/>
          <p:cNvSpPr txBox="1"/>
          <p:nvPr/>
        </p:nvSpPr>
        <p:spPr>
          <a:xfrm>
            <a:off x="7508595" y="3246120"/>
            <a:ext cx="1691640" cy="365760"/>
          </a:xfrm>
          <a:prstGeom prst="rect">
            <a:avLst/>
          </a:prstGeom>
          <a:noFill/>
        </p:spPr>
        <p:txBody>
          <a:bodyPr wrap="square" lIns="0" rIns="0" tIns="0" bIns="0" anchor="t">
            <a:spAutoFit/>
          </a:bodyPr>
          <a:lstStyle/>
          <a:p>
            <a:pPr algn="l">
              <a:lnSpc>
                <a:spcPct val="115000"/>
              </a:lnSpc>
            </a:pPr>
            <a:r>
              <a:rPr sz="1400" b="1" i="0">
                <a:solidFill>
                  <a:srgbClr val="E8ECF1"/>
                </a:solidFill>
                <a:latin typeface="Calibri"/>
              </a:rPr>
              <a:t>ACT</a:t>
            </a:r>
          </a:p>
        </p:txBody>
      </p:sp>
      <p:sp>
        <p:nvSpPr>
          <p:cNvPr id="27" name="Rectangle 26"/>
          <p:cNvSpPr/>
          <p:nvPr/>
        </p:nvSpPr>
        <p:spPr>
          <a:xfrm>
            <a:off x="7508595" y="3657600"/>
            <a:ext cx="365760" cy="1905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08595" y="3794760"/>
            <a:ext cx="1691640" cy="1828800"/>
          </a:xfrm>
          <a:prstGeom prst="rect">
            <a:avLst/>
          </a:prstGeom>
          <a:noFill/>
        </p:spPr>
        <p:txBody>
          <a:bodyPr wrap="square" lIns="0" rIns="0" tIns="0" bIns="0" anchor="t">
            <a:spAutoFit/>
          </a:bodyPr>
          <a:lstStyle/>
          <a:p>
            <a:pPr algn="l">
              <a:lnSpc>
                <a:spcPct val="140000"/>
              </a:lnSpc>
            </a:pPr>
            <a:r>
              <a:rPr sz="1100" b="0" i="0">
                <a:solidFill>
                  <a:srgbClr val="9AA6B8"/>
                </a:solidFill>
                <a:latin typeface="Calibri"/>
              </a:rPr>
              <a:t>Execute with full traceability — every input hashed, every approver named</a:t>
            </a:r>
          </a:p>
        </p:txBody>
      </p:sp>
      <p:sp>
        <p:nvSpPr>
          <p:cNvPr id="29" name="TextBox 28"/>
          <p:cNvSpPr txBox="1"/>
          <p:nvPr/>
        </p:nvSpPr>
        <p:spPr>
          <a:xfrm>
            <a:off x="9433407" y="3931920"/>
            <a:ext cx="109728" cy="365760"/>
          </a:xfrm>
          <a:prstGeom prst="rect">
            <a:avLst/>
          </a:prstGeom>
          <a:noFill/>
        </p:spPr>
        <p:txBody>
          <a:bodyPr wrap="square" lIns="0" rIns="0" tIns="0" bIns="0" anchor="t">
            <a:spAutoFit/>
          </a:bodyPr>
          <a:lstStyle/>
          <a:p>
            <a:pPr algn="ctr">
              <a:lnSpc>
                <a:spcPct val="115000"/>
              </a:lnSpc>
            </a:pPr>
            <a:r>
              <a:rPr sz="2200" b="1" i="0">
                <a:solidFill>
                  <a:srgbClr val="C9B787"/>
                </a:solidFill>
                <a:latin typeface="Calibri"/>
              </a:rPr>
              <a:t>›</a:t>
            </a:r>
          </a:p>
        </p:txBody>
      </p:sp>
      <p:sp>
        <p:nvSpPr>
          <p:cNvPr id="30" name="Rectangle 29"/>
          <p:cNvSpPr/>
          <p:nvPr/>
        </p:nvSpPr>
        <p:spPr>
          <a:xfrm>
            <a:off x="9538563" y="2377440"/>
            <a:ext cx="2148840" cy="338328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67163" y="2606040"/>
            <a:ext cx="1691640" cy="548640"/>
          </a:xfrm>
          <a:prstGeom prst="rect">
            <a:avLst/>
          </a:prstGeom>
          <a:noFill/>
        </p:spPr>
        <p:txBody>
          <a:bodyPr wrap="square" lIns="0" rIns="0" tIns="0" bIns="0" anchor="t">
            <a:spAutoFit/>
          </a:bodyPr>
          <a:lstStyle/>
          <a:p>
            <a:pPr algn="l">
              <a:lnSpc>
                <a:spcPct val="115000"/>
              </a:lnSpc>
            </a:pPr>
            <a:r>
              <a:rPr sz="2800" b="1" i="0">
                <a:solidFill>
                  <a:srgbClr val="C9B787"/>
                </a:solidFill>
                <a:latin typeface="Calibri"/>
              </a:rPr>
              <a:t>05</a:t>
            </a:r>
          </a:p>
        </p:txBody>
      </p:sp>
      <p:sp>
        <p:nvSpPr>
          <p:cNvPr id="32" name="TextBox 31"/>
          <p:cNvSpPr txBox="1"/>
          <p:nvPr/>
        </p:nvSpPr>
        <p:spPr>
          <a:xfrm>
            <a:off x="9767163" y="3246120"/>
            <a:ext cx="1691640" cy="365760"/>
          </a:xfrm>
          <a:prstGeom prst="rect">
            <a:avLst/>
          </a:prstGeom>
          <a:noFill/>
        </p:spPr>
        <p:txBody>
          <a:bodyPr wrap="square" lIns="0" rIns="0" tIns="0" bIns="0" anchor="t">
            <a:spAutoFit/>
          </a:bodyPr>
          <a:lstStyle/>
          <a:p>
            <a:pPr algn="l">
              <a:lnSpc>
                <a:spcPct val="115000"/>
              </a:lnSpc>
            </a:pPr>
            <a:r>
              <a:rPr sz="1400" b="1" i="0">
                <a:solidFill>
                  <a:srgbClr val="E8ECF1"/>
                </a:solidFill>
                <a:latin typeface="Calibri"/>
              </a:rPr>
              <a:t>VERIFY</a:t>
            </a:r>
          </a:p>
        </p:txBody>
      </p:sp>
      <p:sp>
        <p:nvSpPr>
          <p:cNvPr id="33" name="Rectangle 32"/>
          <p:cNvSpPr/>
          <p:nvPr/>
        </p:nvSpPr>
        <p:spPr>
          <a:xfrm>
            <a:off x="9767163" y="3657600"/>
            <a:ext cx="365760" cy="1905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67163" y="3794760"/>
            <a:ext cx="1691640" cy="1828800"/>
          </a:xfrm>
          <a:prstGeom prst="rect">
            <a:avLst/>
          </a:prstGeom>
          <a:noFill/>
        </p:spPr>
        <p:txBody>
          <a:bodyPr wrap="square" lIns="0" rIns="0" tIns="0" bIns="0" anchor="t">
            <a:spAutoFit/>
          </a:bodyPr>
          <a:lstStyle/>
          <a:p>
            <a:pPr algn="l">
              <a:lnSpc>
                <a:spcPct val="140000"/>
              </a:lnSpc>
            </a:pPr>
            <a:r>
              <a:rPr sz="1100" b="0" i="0">
                <a:solidFill>
                  <a:srgbClr val="9AA6B8"/>
                </a:solidFill>
                <a:latin typeface="Calibri"/>
              </a:rPr>
              <a:t>Verify outcomes against intent; replay-grade audit history</a:t>
            </a:r>
          </a:p>
        </p:txBody>
      </p:sp>
      <p:sp>
        <p:nvSpPr>
          <p:cNvPr id="35" name="TextBox 34"/>
          <p:cNvSpPr txBox="1"/>
          <p:nvPr/>
        </p:nvSpPr>
        <p:spPr>
          <a:xfrm>
            <a:off x="548640" y="5943600"/>
            <a:ext cx="11094415" cy="365760"/>
          </a:xfrm>
          <a:prstGeom prst="rect">
            <a:avLst/>
          </a:prstGeom>
          <a:noFill/>
        </p:spPr>
        <p:txBody>
          <a:bodyPr wrap="square" lIns="0" rIns="0" tIns="0" bIns="0" anchor="t">
            <a:spAutoFit/>
          </a:bodyPr>
          <a:lstStyle/>
          <a:p>
            <a:pPr algn="ctr">
              <a:lnSpc>
                <a:spcPct val="115000"/>
              </a:lnSpc>
            </a:pPr>
            <a:r>
              <a:rPr sz="1200" b="0" i="1">
                <a:solidFill>
                  <a:srgbClr val="C9B787"/>
                </a:solidFill>
                <a:latin typeface="Calibri"/>
              </a:rPr>
              <a:t>Convergence properties formalized in the Lutar Invariant family — Ouroboros Thesis v9.</a:t>
            </a:r>
          </a:p>
        </p:txBody>
      </p:sp>
      <p:sp>
        <p:nvSpPr>
          <p:cNvPr id="36" name="Rectangle 35"/>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38" name="TextBox 37"/>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04  ·  THE PRIMITIVES</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Six primitives. Every vertical. Same shape.</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5147" y="2331720"/>
            <a:ext cx="3611880" cy="182880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95147" y="2331720"/>
            <a:ext cx="38100" cy="18288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3747" y="2560320"/>
            <a:ext cx="3154680" cy="457200"/>
          </a:xfrm>
          <a:prstGeom prst="rect">
            <a:avLst/>
          </a:prstGeom>
          <a:noFill/>
        </p:spPr>
        <p:txBody>
          <a:bodyPr wrap="square" lIns="0" rIns="0" tIns="0" bIns="0" anchor="t">
            <a:spAutoFit/>
          </a:bodyPr>
          <a:lstStyle/>
          <a:p>
            <a:pPr algn="l">
              <a:lnSpc>
                <a:spcPct val="115000"/>
              </a:lnSpc>
            </a:pPr>
            <a:r>
              <a:rPr sz="1700" b="1" i="0">
                <a:solidFill>
                  <a:srgbClr val="E8ECF1"/>
                </a:solidFill>
                <a:latin typeface="Calibri"/>
              </a:rPr>
              <a:t>Outcome Graph</a:t>
            </a:r>
          </a:p>
        </p:txBody>
      </p:sp>
      <p:sp>
        <p:nvSpPr>
          <p:cNvPr id="9" name="TextBox 8"/>
          <p:cNvSpPr txBox="1"/>
          <p:nvPr/>
        </p:nvSpPr>
        <p:spPr>
          <a:xfrm>
            <a:off x="723747" y="3108960"/>
            <a:ext cx="3154680" cy="1005840"/>
          </a:xfrm>
          <a:prstGeom prst="rect">
            <a:avLst/>
          </a:prstGeom>
          <a:noFill/>
        </p:spPr>
        <p:txBody>
          <a:bodyPr wrap="square" lIns="0" rIns="0" tIns="0" bIns="0" anchor="t">
            <a:spAutoFit/>
          </a:bodyPr>
          <a:lstStyle/>
          <a:p>
            <a:pPr algn="l">
              <a:lnSpc>
                <a:spcPct val="140000"/>
              </a:lnSpc>
            </a:pPr>
            <a:r>
              <a:rPr sz="1200" b="0" i="0">
                <a:solidFill>
                  <a:srgbClr val="9AA6B8"/>
                </a:solidFill>
                <a:latin typeface="Calibri"/>
              </a:rPr>
              <a:t>What was decided, by whom, with what evidence.</a:t>
            </a:r>
          </a:p>
        </p:txBody>
      </p:sp>
      <p:sp>
        <p:nvSpPr>
          <p:cNvPr id="10" name="Rectangle 9"/>
          <p:cNvSpPr/>
          <p:nvPr/>
        </p:nvSpPr>
        <p:spPr>
          <a:xfrm>
            <a:off x="4289907" y="2331720"/>
            <a:ext cx="3611880" cy="182880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89907" y="2331720"/>
            <a:ext cx="38100" cy="18288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8507" y="2560320"/>
            <a:ext cx="3154680" cy="457200"/>
          </a:xfrm>
          <a:prstGeom prst="rect">
            <a:avLst/>
          </a:prstGeom>
          <a:noFill/>
        </p:spPr>
        <p:txBody>
          <a:bodyPr wrap="square" lIns="0" rIns="0" tIns="0" bIns="0" anchor="t">
            <a:spAutoFit/>
          </a:bodyPr>
          <a:lstStyle/>
          <a:p>
            <a:pPr algn="l">
              <a:lnSpc>
                <a:spcPct val="115000"/>
              </a:lnSpc>
            </a:pPr>
            <a:r>
              <a:rPr sz="1700" b="1" i="0">
                <a:solidFill>
                  <a:srgbClr val="E8ECF1"/>
                </a:solidFill>
                <a:latin typeface="Calibri"/>
              </a:rPr>
              <a:t>Proof Chain</a:t>
            </a:r>
          </a:p>
        </p:txBody>
      </p:sp>
      <p:sp>
        <p:nvSpPr>
          <p:cNvPr id="13" name="TextBox 12"/>
          <p:cNvSpPr txBox="1"/>
          <p:nvPr/>
        </p:nvSpPr>
        <p:spPr>
          <a:xfrm>
            <a:off x="4518507" y="3108960"/>
            <a:ext cx="3154680" cy="1005840"/>
          </a:xfrm>
          <a:prstGeom prst="rect">
            <a:avLst/>
          </a:prstGeom>
          <a:noFill/>
        </p:spPr>
        <p:txBody>
          <a:bodyPr wrap="square" lIns="0" rIns="0" tIns="0" bIns="0" anchor="t">
            <a:spAutoFit/>
          </a:bodyPr>
          <a:lstStyle/>
          <a:p>
            <a:pPr algn="l">
              <a:lnSpc>
                <a:spcPct val="140000"/>
              </a:lnSpc>
            </a:pPr>
            <a:r>
              <a:rPr sz="1200" b="0" i="0">
                <a:solidFill>
                  <a:srgbClr val="9AA6B8"/>
                </a:solidFill>
                <a:latin typeface="Calibri"/>
              </a:rPr>
              <a:t>Hash chain from output → inputs → human approver.</a:t>
            </a:r>
          </a:p>
        </p:txBody>
      </p:sp>
      <p:sp>
        <p:nvSpPr>
          <p:cNvPr id="14" name="Rectangle 13"/>
          <p:cNvSpPr/>
          <p:nvPr/>
        </p:nvSpPr>
        <p:spPr>
          <a:xfrm>
            <a:off x="8084667" y="2331720"/>
            <a:ext cx="3611880" cy="182880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4667" y="2331720"/>
            <a:ext cx="38100" cy="18288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13267" y="2560320"/>
            <a:ext cx="3154680" cy="457200"/>
          </a:xfrm>
          <a:prstGeom prst="rect">
            <a:avLst/>
          </a:prstGeom>
          <a:noFill/>
        </p:spPr>
        <p:txBody>
          <a:bodyPr wrap="square" lIns="0" rIns="0" tIns="0" bIns="0" anchor="t">
            <a:spAutoFit/>
          </a:bodyPr>
          <a:lstStyle/>
          <a:p>
            <a:pPr algn="l">
              <a:lnSpc>
                <a:spcPct val="115000"/>
              </a:lnSpc>
            </a:pPr>
            <a:r>
              <a:rPr sz="1700" b="1" i="0">
                <a:solidFill>
                  <a:srgbClr val="E8ECF1"/>
                </a:solidFill>
                <a:latin typeface="Calibri"/>
              </a:rPr>
              <a:t>Covenant Policy</a:t>
            </a:r>
          </a:p>
        </p:txBody>
      </p:sp>
      <p:sp>
        <p:nvSpPr>
          <p:cNvPr id="17" name="TextBox 16"/>
          <p:cNvSpPr txBox="1"/>
          <p:nvPr/>
        </p:nvSpPr>
        <p:spPr>
          <a:xfrm>
            <a:off x="8313267" y="3108960"/>
            <a:ext cx="3154680" cy="1005840"/>
          </a:xfrm>
          <a:prstGeom prst="rect">
            <a:avLst/>
          </a:prstGeom>
          <a:noFill/>
        </p:spPr>
        <p:txBody>
          <a:bodyPr wrap="square" lIns="0" rIns="0" tIns="0" bIns="0" anchor="t">
            <a:spAutoFit/>
          </a:bodyPr>
          <a:lstStyle/>
          <a:p>
            <a:pPr algn="l">
              <a:lnSpc>
                <a:spcPct val="140000"/>
              </a:lnSpc>
            </a:pPr>
            <a:r>
              <a:rPr sz="1200" b="0" i="0">
                <a:solidFill>
                  <a:srgbClr val="9AA6B8"/>
                </a:solidFill>
                <a:latin typeface="Calibri"/>
              </a:rPr>
              <a:t>Declarative gating of every AI action.</a:t>
            </a:r>
          </a:p>
        </p:txBody>
      </p:sp>
      <p:sp>
        <p:nvSpPr>
          <p:cNvPr id="18" name="Rectangle 17"/>
          <p:cNvSpPr/>
          <p:nvPr/>
        </p:nvSpPr>
        <p:spPr>
          <a:xfrm>
            <a:off x="495147" y="4343400"/>
            <a:ext cx="3611880" cy="182880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5147" y="4343400"/>
            <a:ext cx="38100" cy="18288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747" y="4572000"/>
            <a:ext cx="3154680" cy="457200"/>
          </a:xfrm>
          <a:prstGeom prst="rect">
            <a:avLst/>
          </a:prstGeom>
          <a:noFill/>
        </p:spPr>
        <p:txBody>
          <a:bodyPr wrap="square" lIns="0" rIns="0" tIns="0" bIns="0" anchor="t">
            <a:spAutoFit/>
          </a:bodyPr>
          <a:lstStyle/>
          <a:p>
            <a:pPr algn="l">
              <a:lnSpc>
                <a:spcPct val="115000"/>
              </a:lnSpc>
            </a:pPr>
            <a:r>
              <a:rPr sz="1700" b="1" i="0">
                <a:solidFill>
                  <a:srgbClr val="E8ECF1"/>
                </a:solidFill>
                <a:latin typeface="Calibri"/>
              </a:rPr>
              <a:t>Decision Simulation</a:t>
            </a:r>
          </a:p>
        </p:txBody>
      </p:sp>
      <p:sp>
        <p:nvSpPr>
          <p:cNvPr id="21" name="TextBox 20"/>
          <p:cNvSpPr txBox="1"/>
          <p:nvPr/>
        </p:nvSpPr>
        <p:spPr>
          <a:xfrm>
            <a:off x="723747" y="5120640"/>
            <a:ext cx="3154680" cy="1005840"/>
          </a:xfrm>
          <a:prstGeom prst="rect">
            <a:avLst/>
          </a:prstGeom>
          <a:noFill/>
        </p:spPr>
        <p:txBody>
          <a:bodyPr wrap="square" lIns="0" rIns="0" tIns="0" bIns="0" anchor="t">
            <a:spAutoFit/>
          </a:bodyPr>
          <a:lstStyle/>
          <a:p>
            <a:pPr algn="l">
              <a:lnSpc>
                <a:spcPct val="140000"/>
              </a:lnSpc>
            </a:pPr>
            <a:r>
              <a:rPr sz="1200" b="0" i="0">
                <a:solidFill>
                  <a:srgbClr val="9AA6B8"/>
                </a:solidFill>
                <a:latin typeface="Calibri"/>
              </a:rPr>
              <a:t>Replay decisions against history before policy ships.</a:t>
            </a:r>
          </a:p>
        </p:txBody>
      </p:sp>
      <p:sp>
        <p:nvSpPr>
          <p:cNvPr id="22" name="Rectangle 21"/>
          <p:cNvSpPr/>
          <p:nvPr/>
        </p:nvSpPr>
        <p:spPr>
          <a:xfrm>
            <a:off x="4289907" y="4343400"/>
            <a:ext cx="3611880" cy="182880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89907" y="4343400"/>
            <a:ext cx="38100" cy="18288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18507" y="4572000"/>
            <a:ext cx="3154680" cy="457200"/>
          </a:xfrm>
          <a:prstGeom prst="rect">
            <a:avLst/>
          </a:prstGeom>
          <a:noFill/>
        </p:spPr>
        <p:txBody>
          <a:bodyPr wrap="square" lIns="0" rIns="0" tIns="0" bIns="0" anchor="t">
            <a:spAutoFit/>
          </a:bodyPr>
          <a:lstStyle/>
          <a:p>
            <a:pPr algn="l">
              <a:lnSpc>
                <a:spcPct val="115000"/>
              </a:lnSpc>
            </a:pPr>
            <a:r>
              <a:rPr sz="1700" b="1" i="0">
                <a:solidFill>
                  <a:srgbClr val="E8ECF1"/>
                </a:solidFill>
                <a:latin typeface="Calibri"/>
              </a:rPr>
              <a:t>Workflow Engine</a:t>
            </a:r>
          </a:p>
        </p:txBody>
      </p:sp>
      <p:sp>
        <p:nvSpPr>
          <p:cNvPr id="25" name="TextBox 24"/>
          <p:cNvSpPr txBox="1"/>
          <p:nvPr/>
        </p:nvSpPr>
        <p:spPr>
          <a:xfrm>
            <a:off x="4518507" y="5120640"/>
            <a:ext cx="3154680" cy="1005840"/>
          </a:xfrm>
          <a:prstGeom prst="rect">
            <a:avLst/>
          </a:prstGeom>
          <a:noFill/>
        </p:spPr>
        <p:txBody>
          <a:bodyPr wrap="square" lIns="0" rIns="0" tIns="0" bIns="0" anchor="t">
            <a:spAutoFit/>
          </a:bodyPr>
          <a:lstStyle/>
          <a:p>
            <a:pPr algn="l">
              <a:lnSpc>
                <a:spcPct val="140000"/>
              </a:lnSpc>
            </a:pPr>
            <a:r>
              <a:rPr sz="1200" b="0" i="0">
                <a:solidFill>
                  <a:srgbClr val="9AA6B8"/>
                </a:solidFill>
                <a:latin typeface="Calibri"/>
              </a:rPr>
              <a:t>The bounded-loop scheduler.</a:t>
            </a:r>
          </a:p>
        </p:txBody>
      </p:sp>
      <p:sp>
        <p:nvSpPr>
          <p:cNvPr id="26" name="Rectangle 25"/>
          <p:cNvSpPr/>
          <p:nvPr/>
        </p:nvSpPr>
        <p:spPr>
          <a:xfrm>
            <a:off x="8084667" y="4343400"/>
            <a:ext cx="3611880" cy="182880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84667" y="4343400"/>
            <a:ext cx="38100" cy="18288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13267" y="4572000"/>
            <a:ext cx="3154680" cy="457200"/>
          </a:xfrm>
          <a:prstGeom prst="rect">
            <a:avLst/>
          </a:prstGeom>
          <a:noFill/>
        </p:spPr>
        <p:txBody>
          <a:bodyPr wrap="square" lIns="0" rIns="0" tIns="0" bIns="0" anchor="t">
            <a:spAutoFit/>
          </a:bodyPr>
          <a:lstStyle/>
          <a:p>
            <a:pPr algn="l">
              <a:lnSpc>
                <a:spcPct val="115000"/>
              </a:lnSpc>
            </a:pPr>
            <a:r>
              <a:rPr sz="1700" b="1" i="0">
                <a:solidFill>
                  <a:srgbClr val="E8ECF1"/>
                </a:solidFill>
                <a:latin typeface="Calibri"/>
              </a:rPr>
              <a:t>Event Fabric (PRISM Bus)</a:t>
            </a:r>
          </a:p>
        </p:txBody>
      </p:sp>
      <p:sp>
        <p:nvSpPr>
          <p:cNvPr id="29" name="TextBox 28"/>
          <p:cNvSpPr txBox="1"/>
          <p:nvPr/>
        </p:nvSpPr>
        <p:spPr>
          <a:xfrm>
            <a:off x="8313267" y="5120640"/>
            <a:ext cx="3154680" cy="1005840"/>
          </a:xfrm>
          <a:prstGeom prst="rect">
            <a:avLst/>
          </a:prstGeom>
          <a:noFill/>
        </p:spPr>
        <p:txBody>
          <a:bodyPr wrap="square" lIns="0" rIns="0" tIns="0" bIns="0" anchor="t">
            <a:spAutoFit/>
          </a:bodyPr>
          <a:lstStyle/>
          <a:p>
            <a:pPr algn="l">
              <a:lnSpc>
                <a:spcPct val="140000"/>
              </a:lnSpc>
            </a:pPr>
            <a:r>
              <a:rPr sz="1200" b="0" i="0">
                <a:solidFill>
                  <a:srgbClr val="9AA6B8"/>
                </a:solidFill>
                <a:latin typeface="Calibri"/>
              </a:rPr>
              <a:t>Append-only event spine. Everything publishes here.</a:t>
            </a:r>
          </a:p>
        </p:txBody>
      </p:sp>
      <p:sp>
        <p:nvSpPr>
          <p:cNvPr id="30" name="Rectangle 29"/>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32" name="TextBox 31"/>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05  ·  PRODUCT FOOTPRINT</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Eight live product surfaces. One control plane.</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2194560"/>
          <a:ext cx="11094415" cy="3840480"/>
        </p:xfrm>
        <a:graphic>
          <a:graphicData uri="http://schemas.openxmlformats.org/drawingml/2006/table">
            <a:tbl>
              <a:tblPr firstRow="0" bandRow="0">
                <a:tableStyleId>{5C22544A-7EE6-4342-B048-85BDC9FD1C3A}</a:tableStyleId>
              </a:tblPr>
              <a:tblGrid>
                <a:gridCol w="3698138"/>
                <a:gridCol w="3698138"/>
                <a:gridCol w="3698139"/>
              </a:tblGrid>
              <a:tr h="426720">
                <a:tc>
                  <a:txBody>
                    <a:bodyPr tIns="54864" bIns="54864"/>
                    <a:lstStyle/>
                    <a:p>
                      <a:pPr algn="l"/>
                      <a:r>
                        <a:rPr sz="1300" b="1">
                          <a:solidFill>
                            <a:srgbClr val="C9B787"/>
                          </a:solidFill>
                          <a:latin typeface="Calibri"/>
                        </a:rPr>
                        <a:t>Surface</a:t>
                      </a:r>
                    </a:p>
                  </a:txBody>
                  <a:tcPr>
                    <a:solidFill>
                      <a:srgbClr val="122238"/>
                    </a:solidFill>
                  </a:tcPr>
                </a:tc>
                <a:tc>
                  <a:txBody>
                    <a:bodyPr tIns="54864" bIns="54864"/>
                    <a:lstStyle/>
                    <a:p>
                      <a:pPr algn="l"/>
                      <a:r>
                        <a:rPr sz="1300" b="1">
                          <a:solidFill>
                            <a:srgbClr val="C9B787"/>
                          </a:solidFill>
                          <a:latin typeface="Calibri"/>
                        </a:rPr>
                        <a:t>Path</a:t>
                      </a:r>
                    </a:p>
                  </a:txBody>
                  <a:tcPr>
                    <a:solidFill>
                      <a:srgbClr val="122238"/>
                    </a:solidFill>
                  </a:tcPr>
                </a:tc>
                <a:tc>
                  <a:txBody>
                    <a:bodyPr tIns="54864" bIns="54864"/>
                    <a:lstStyle/>
                    <a:p>
                      <a:pPr algn="l"/>
                      <a:r>
                        <a:rPr sz="1300" b="1">
                          <a:solidFill>
                            <a:srgbClr val="C9B787"/>
                          </a:solidFill>
                          <a:latin typeface="Calibri"/>
                        </a:rPr>
                        <a:t>Domain</a:t>
                      </a:r>
                    </a:p>
                  </a:txBody>
                  <a:tcPr>
                    <a:solidFill>
                      <a:srgbClr val="122238"/>
                    </a:solidFill>
                  </a:tcPr>
                </a:tc>
              </a:tr>
              <a:tr h="426720">
                <a:tc>
                  <a:txBody>
                    <a:bodyPr wrap="square" tIns="73152" bIns="73152"/>
                    <a:lstStyle/>
                    <a:p>
                      <a:pPr algn="l"/>
                      <a:r>
                        <a:rPr sz="1300" b="1">
                          <a:solidFill>
                            <a:srgbClr val="C9B787"/>
                          </a:solidFill>
                          <a:latin typeface="Calibri"/>
                        </a:rPr>
                        <a:t>A11oy</a:t>
                      </a:r>
                    </a:p>
                  </a:txBody>
                  <a:tcPr>
                    <a:solidFill>
                      <a:srgbClr val="0A1628"/>
                    </a:solidFill>
                  </a:tcPr>
                </a:tc>
                <a:tc>
                  <a:txBody>
                    <a:bodyPr wrap="square" tIns="73152" bIns="73152"/>
                    <a:lstStyle/>
                    <a:p>
                      <a:pPr algn="l"/>
                      <a:r>
                        <a:rPr sz="1300" b="0">
                          <a:solidFill>
                            <a:srgbClr val="E8ECF1"/>
                          </a:solidFill>
                          <a:latin typeface="Calibri"/>
                        </a:rPr>
                        <a:t>/a11oy/</a:t>
                      </a:r>
                    </a:p>
                  </a:txBody>
                  <a:tcPr>
                    <a:solidFill>
                      <a:srgbClr val="0A1628"/>
                    </a:solidFill>
                  </a:tcPr>
                </a:tc>
                <a:tc>
                  <a:txBody>
                    <a:bodyPr wrap="square" tIns="73152" bIns="73152"/>
                    <a:lstStyle/>
                    <a:p>
                      <a:pPr algn="l"/>
                      <a:r>
                        <a:rPr sz="1300" b="0">
                          <a:solidFill>
                            <a:srgbClr val="E8ECF1"/>
                          </a:solidFill>
                          <a:latin typeface="Calibri"/>
                        </a:rPr>
                        <a:t>Orchestration · Decision Intelligence · Trust Plane</a:t>
                      </a:r>
                    </a:p>
                  </a:txBody>
                  <a:tcPr>
                    <a:solidFill>
                      <a:srgbClr val="0A1628"/>
                    </a:solidFill>
                  </a:tcPr>
                </a:tc>
              </a:tr>
              <a:tr h="426720">
                <a:tc>
                  <a:txBody>
                    <a:bodyPr wrap="square" tIns="73152" bIns="73152"/>
                    <a:lstStyle/>
                    <a:p>
                      <a:pPr algn="l"/>
                      <a:r>
                        <a:rPr sz="1300" b="1">
                          <a:solidFill>
                            <a:srgbClr val="C9B787"/>
                          </a:solidFill>
                          <a:latin typeface="Calibri"/>
                        </a:rPr>
                        <a:t>Sentra (TENAX)</a:t>
                      </a:r>
                    </a:p>
                  </a:txBody>
                  <a:tcPr>
                    <a:solidFill>
                      <a:srgbClr val="122238"/>
                    </a:solidFill>
                  </a:tcPr>
                </a:tc>
                <a:tc>
                  <a:txBody>
                    <a:bodyPr wrap="square" tIns="73152" bIns="73152"/>
                    <a:lstStyle/>
                    <a:p>
                      <a:pPr algn="l"/>
                      <a:r>
                        <a:rPr sz="1300" b="0">
                          <a:solidFill>
                            <a:srgbClr val="E8ECF1"/>
                          </a:solidFill>
                          <a:latin typeface="Calibri"/>
                        </a:rPr>
                        <a:t>/sentra/</a:t>
                      </a:r>
                    </a:p>
                  </a:txBody>
                  <a:tcPr>
                    <a:solidFill>
                      <a:srgbClr val="122238"/>
                    </a:solidFill>
                  </a:tcPr>
                </a:tc>
                <a:tc>
                  <a:txBody>
                    <a:bodyPr wrap="square" tIns="73152" bIns="73152"/>
                    <a:lstStyle/>
                    <a:p>
                      <a:pPr algn="l"/>
                      <a:r>
                        <a:rPr sz="1300" b="0">
                          <a:solidFill>
                            <a:srgbClr val="E8ECF1"/>
                          </a:solidFill>
                          <a:latin typeface="Calibri"/>
                        </a:rPr>
                        <a:t>Cyber Resilience Command</a:t>
                      </a:r>
                    </a:p>
                  </a:txBody>
                  <a:tcPr>
                    <a:solidFill>
                      <a:srgbClr val="122238"/>
                    </a:solidFill>
                  </a:tcPr>
                </a:tc>
              </a:tr>
              <a:tr h="426720">
                <a:tc>
                  <a:txBody>
                    <a:bodyPr wrap="square" tIns="73152" bIns="73152"/>
                    <a:lstStyle/>
                    <a:p>
                      <a:pPr algn="l"/>
                      <a:r>
                        <a:rPr sz="1300" b="1">
                          <a:solidFill>
                            <a:srgbClr val="C9B787"/>
                          </a:solidFill>
                          <a:latin typeface="Calibri"/>
                        </a:rPr>
                        <a:t>Amaru (Conduit)</a:t>
                      </a:r>
                    </a:p>
                  </a:txBody>
                  <a:tcPr>
                    <a:solidFill>
                      <a:srgbClr val="0A1628"/>
                    </a:solidFill>
                  </a:tcPr>
                </a:tc>
                <a:tc>
                  <a:txBody>
                    <a:bodyPr wrap="square" tIns="73152" bIns="73152"/>
                    <a:lstStyle/>
                    <a:p>
                      <a:pPr algn="l"/>
                      <a:r>
                        <a:rPr sz="1300" b="0">
                          <a:solidFill>
                            <a:srgbClr val="E8ECF1"/>
                          </a:solidFill>
                          <a:latin typeface="Calibri"/>
                        </a:rPr>
                        <a:t>/conduit/</a:t>
                      </a:r>
                    </a:p>
                  </a:txBody>
                  <a:tcPr>
                    <a:solidFill>
                      <a:srgbClr val="0A1628"/>
                    </a:solidFill>
                  </a:tcPr>
                </a:tc>
                <a:tc>
                  <a:txBody>
                    <a:bodyPr wrap="square" tIns="73152" bIns="73152"/>
                    <a:lstStyle/>
                    <a:p>
                      <a:pPr algn="l"/>
                      <a:r>
                        <a:rPr sz="1300" b="0">
                          <a:solidFill>
                            <a:srgbClr val="E8ECF1"/>
                          </a:solidFill>
                          <a:latin typeface="Calibri"/>
                        </a:rPr>
                        <a:t>Convergent Reverse-ETL</a:t>
                      </a:r>
                    </a:p>
                  </a:txBody>
                  <a:tcPr>
                    <a:solidFill>
                      <a:srgbClr val="0A1628"/>
                    </a:solidFill>
                  </a:tcPr>
                </a:tc>
              </a:tr>
              <a:tr h="426720">
                <a:tc>
                  <a:txBody>
                    <a:bodyPr wrap="square" tIns="73152" bIns="73152"/>
                    <a:lstStyle/>
                    <a:p>
                      <a:pPr algn="l"/>
                      <a:r>
                        <a:rPr sz="1300" b="1">
                          <a:solidFill>
                            <a:srgbClr val="C9B787"/>
                          </a:solidFill>
                          <a:latin typeface="Calibri"/>
                        </a:rPr>
                        <a:t>Terra (DOMAINE)</a:t>
                      </a:r>
                    </a:p>
                  </a:txBody>
                  <a:tcPr>
                    <a:solidFill>
                      <a:srgbClr val="122238"/>
                    </a:solidFill>
                  </a:tcPr>
                </a:tc>
                <a:tc>
                  <a:txBody>
                    <a:bodyPr wrap="square" tIns="73152" bIns="73152"/>
                    <a:lstStyle/>
                    <a:p>
                      <a:pPr algn="l"/>
                      <a:r>
                        <a:rPr sz="1300" b="0">
                          <a:solidFill>
                            <a:srgbClr val="E8ECF1"/>
                          </a:solidFill>
                          <a:latin typeface="Calibri"/>
                        </a:rPr>
                        <a:t>/terra/</a:t>
                      </a:r>
                    </a:p>
                  </a:txBody>
                  <a:tcPr>
                    <a:solidFill>
                      <a:srgbClr val="122238"/>
                    </a:solidFill>
                  </a:tcPr>
                </a:tc>
                <a:tc>
                  <a:txBody>
                    <a:bodyPr wrap="square" tIns="73152" bIns="73152"/>
                    <a:lstStyle/>
                    <a:p>
                      <a:pPr algn="l"/>
                      <a:r>
                        <a:rPr sz="1300" b="0">
                          <a:solidFill>
                            <a:srgbClr val="E8ECF1"/>
                          </a:solidFill>
                          <a:latin typeface="Calibri"/>
                        </a:rPr>
                        <a:t>Real Estate Intelligence</a:t>
                      </a:r>
                    </a:p>
                  </a:txBody>
                  <a:tcPr>
                    <a:solidFill>
                      <a:srgbClr val="122238"/>
                    </a:solidFill>
                  </a:tcPr>
                </a:tc>
              </a:tr>
              <a:tr h="426720">
                <a:tc>
                  <a:txBody>
                    <a:bodyPr wrap="square" tIns="73152" bIns="73152"/>
                    <a:lstStyle/>
                    <a:p>
                      <a:pPr algn="l"/>
                      <a:r>
                        <a:rPr sz="1300" b="1">
                          <a:solidFill>
                            <a:srgbClr val="C9B787"/>
                          </a:solidFill>
                          <a:latin typeface="Calibri"/>
                        </a:rPr>
                        <a:t>Vessels (SEXTANT)</a:t>
                      </a:r>
                    </a:p>
                  </a:txBody>
                  <a:tcPr>
                    <a:solidFill>
                      <a:srgbClr val="0A1628"/>
                    </a:solidFill>
                  </a:tcPr>
                </a:tc>
                <a:tc>
                  <a:txBody>
                    <a:bodyPr wrap="square" tIns="73152" bIns="73152"/>
                    <a:lstStyle/>
                    <a:p>
                      <a:pPr algn="l"/>
                      <a:r>
                        <a:rPr sz="1300" b="0">
                          <a:solidFill>
                            <a:srgbClr val="E8ECF1"/>
                          </a:solidFill>
                          <a:latin typeface="Calibri"/>
                        </a:rPr>
                        <a:t>/vessels/</a:t>
                      </a:r>
                    </a:p>
                  </a:txBody>
                  <a:tcPr>
                    <a:solidFill>
                      <a:srgbClr val="0A1628"/>
                    </a:solidFill>
                  </a:tcPr>
                </a:tc>
                <a:tc>
                  <a:txBody>
                    <a:bodyPr wrap="square" tIns="73152" bIns="73152"/>
                    <a:lstStyle/>
                    <a:p>
                      <a:pPr algn="l"/>
                      <a:r>
                        <a:rPr sz="1300" b="0">
                          <a:solidFill>
                            <a:srgbClr val="E8ECF1"/>
                          </a:solidFill>
                          <a:latin typeface="Calibri"/>
                        </a:rPr>
                        <a:t>Maritime Intelligence</a:t>
                      </a:r>
                    </a:p>
                  </a:txBody>
                  <a:tcPr>
                    <a:solidFill>
                      <a:srgbClr val="0A1628"/>
                    </a:solidFill>
                  </a:tcPr>
                </a:tc>
              </a:tr>
              <a:tr h="426720">
                <a:tc>
                  <a:txBody>
                    <a:bodyPr wrap="square" tIns="73152" bIns="73152"/>
                    <a:lstStyle/>
                    <a:p>
                      <a:pPr algn="l"/>
                      <a:r>
                        <a:rPr sz="1300" b="1">
                          <a:solidFill>
                            <a:srgbClr val="C9B787"/>
                          </a:solidFill>
                          <a:latin typeface="Calibri"/>
                        </a:rPr>
                        <a:t>Counsel</a:t>
                      </a:r>
                    </a:p>
                  </a:txBody>
                  <a:tcPr>
                    <a:solidFill>
                      <a:srgbClr val="122238"/>
                    </a:solidFill>
                  </a:tcPr>
                </a:tc>
                <a:tc>
                  <a:txBody>
                    <a:bodyPr wrap="square" tIns="73152" bIns="73152"/>
                    <a:lstStyle/>
                    <a:p>
                      <a:pPr algn="l"/>
                      <a:r>
                        <a:rPr sz="1300" b="0">
                          <a:solidFill>
                            <a:srgbClr val="E8ECF1"/>
                          </a:solidFill>
                          <a:latin typeface="Calibri"/>
                        </a:rPr>
                        <a:t>/counsel/</a:t>
                      </a:r>
                    </a:p>
                  </a:txBody>
                  <a:tcPr>
                    <a:solidFill>
                      <a:srgbClr val="122238"/>
                    </a:solidFill>
                  </a:tcPr>
                </a:tc>
                <a:tc>
                  <a:txBody>
                    <a:bodyPr wrap="square" tIns="73152" bIns="73152"/>
                    <a:lstStyle/>
                    <a:p>
                      <a:pPr algn="l"/>
                      <a:r>
                        <a:rPr sz="1300" b="0">
                          <a:solidFill>
                            <a:srgbClr val="E8ECF1"/>
                          </a:solidFill>
                          <a:latin typeface="Calibri"/>
                        </a:rPr>
                        <a:t>Legal Matter Command</a:t>
                      </a:r>
                    </a:p>
                  </a:txBody>
                  <a:tcPr>
                    <a:solidFill>
                      <a:srgbClr val="122238"/>
                    </a:solidFill>
                  </a:tcPr>
                </a:tc>
              </a:tr>
              <a:tr h="426720">
                <a:tc>
                  <a:txBody>
                    <a:bodyPr wrap="square" tIns="73152" bIns="73152"/>
                    <a:lstStyle/>
                    <a:p>
                      <a:pPr algn="l"/>
                      <a:r>
                        <a:rPr sz="1300" b="1">
                          <a:solidFill>
                            <a:srgbClr val="C9B787"/>
                          </a:solidFill>
                          <a:latin typeface="Calibri"/>
                        </a:rPr>
                        <a:t>Carlota Jo</a:t>
                      </a:r>
                    </a:p>
                  </a:txBody>
                  <a:tcPr>
                    <a:solidFill>
                      <a:srgbClr val="0A1628"/>
                    </a:solidFill>
                  </a:tcPr>
                </a:tc>
                <a:tc>
                  <a:txBody>
                    <a:bodyPr wrap="square" tIns="73152" bIns="73152"/>
                    <a:lstStyle/>
                    <a:p>
                      <a:pPr algn="l"/>
                      <a:r>
                        <a:rPr sz="1300" b="0">
                          <a:solidFill>
                            <a:srgbClr val="E8ECF1"/>
                          </a:solidFill>
                          <a:latin typeface="Calibri"/>
                        </a:rPr>
                        <a:t>/carlota-jo/</a:t>
                      </a:r>
                    </a:p>
                  </a:txBody>
                  <a:tcPr>
                    <a:solidFill>
                      <a:srgbClr val="0A1628"/>
                    </a:solidFill>
                  </a:tcPr>
                </a:tc>
                <a:tc>
                  <a:txBody>
                    <a:bodyPr wrap="square" tIns="73152" bIns="73152"/>
                    <a:lstStyle/>
                    <a:p>
                      <a:pPr algn="l"/>
                      <a:r>
                        <a:rPr sz="1300" b="0">
                          <a:solidFill>
                            <a:srgbClr val="E8ECF1"/>
                          </a:solidFill>
                          <a:latin typeface="Calibri"/>
                        </a:rPr>
                        <a:t>Concierge Advisory Operations</a:t>
                      </a:r>
                    </a:p>
                  </a:txBody>
                  <a:tcPr>
                    <a:solidFill>
                      <a:srgbClr val="0A1628"/>
                    </a:solidFill>
                  </a:tcPr>
                </a:tc>
              </a:tr>
              <a:tr h="426720">
                <a:tc>
                  <a:txBody>
                    <a:bodyPr wrap="square" tIns="73152" bIns="73152"/>
                    <a:lstStyle/>
                    <a:p>
                      <a:pPr algn="l"/>
                      <a:r>
                        <a:rPr sz="1300" b="1">
                          <a:solidFill>
                            <a:srgbClr val="C9B787"/>
                          </a:solidFill>
                          <a:latin typeface="Calibri"/>
                        </a:rPr>
                        <a:t>ROSIE  ★ NEW</a:t>
                      </a:r>
                    </a:p>
                  </a:txBody>
                  <a:tcPr>
                    <a:solidFill>
                      <a:srgbClr val="122238"/>
                    </a:solidFill>
                  </a:tcPr>
                </a:tc>
                <a:tc>
                  <a:txBody>
                    <a:bodyPr wrap="square" tIns="73152" bIns="73152"/>
                    <a:lstStyle/>
                    <a:p>
                      <a:pPr algn="l"/>
                      <a:r>
                        <a:rPr sz="1300" b="0">
                          <a:solidFill>
                            <a:srgbClr val="E8ECF1"/>
                          </a:solidFill>
                          <a:latin typeface="Calibri"/>
                        </a:rPr>
                        <a:t>/rosie/</a:t>
                      </a:r>
                    </a:p>
                  </a:txBody>
                  <a:tcPr>
                    <a:solidFill>
                      <a:srgbClr val="122238"/>
                    </a:solidFill>
                  </a:tcPr>
                </a:tc>
                <a:tc>
                  <a:txBody>
                    <a:bodyPr wrap="square" tIns="73152" bIns="73152"/>
                    <a:lstStyle/>
                    <a:p>
                      <a:pPr algn="l"/>
                      <a:r>
                        <a:rPr sz="1300" b="0">
                          <a:solidFill>
                            <a:srgbClr val="E8ECF1"/>
                          </a:solidFill>
                          <a:latin typeface="Calibri"/>
                        </a:rPr>
                        <a:t>Unified Decision Fabric — operator surface for CPS payloads</a:t>
                      </a:r>
                    </a:p>
                  </a:txBody>
                  <a:tcPr>
                    <a:solidFill>
                      <a:srgbClr val="122238"/>
                    </a:solidFill>
                  </a:tcPr>
                </a:tc>
              </a:tr>
            </a:tbl>
          </a:graphicData>
        </a:graphic>
      </p:graphicFrame>
      <p:sp>
        <p:nvSpPr>
          <p:cNvPr id="7" name="Rectangle 6"/>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9" name="TextBox 8"/>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06  ·  THE CONTROL PLANE</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A11oy is the Mythos-class control plane.</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286000"/>
            <a:ext cx="38100" cy="77724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86000"/>
            <a:ext cx="105156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ARGO</a:t>
            </a:r>
          </a:p>
        </p:txBody>
      </p:sp>
      <p:sp>
        <p:nvSpPr>
          <p:cNvPr id="8" name="TextBox 7"/>
          <p:cNvSpPr txBox="1"/>
          <p:nvPr/>
        </p:nvSpPr>
        <p:spPr>
          <a:xfrm>
            <a:off x="777240" y="2651760"/>
            <a:ext cx="10515600" cy="457200"/>
          </a:xfrm>
          <a:prstGeom prst="rect">
            <a:avLst/>
          </a:prstGeom>
          <a:noFill/>
        </p:spPr>
        <p:txBody>
          <a:bodyPr wrap="square" lIns="0" rIns="0" tIns="0" bIns="0" anchor="t">
            <a:spAutoFit/>
          </a:bodyPr>
          <a:lstStyle/>
          <a:p>
            <a:pPr algn="l">
              <a:lnSpc>
                <a:spcPct val="130000"/>
              </a:lnSpc>
            </a:pPr>
            <a:r>
              <a:rPr sz="1200" b="0" i="0">
                <a:solidFill>
                  <a:srgbClr val="E8ECF1"/>
                </a:solidFill>
                <a:latin typeface="Calibri"/>
              </a:rPr>
              <a:t>Experience-era decision engine. Champion policies, self-play arena, mirror eval, counterfactuals, reward-hacking guardrails. World-model accuracy 89.1% · throughput 31.4 ev/s.</a:t>
            </a:r>
          </a:p>
        </p:txBody>
      </p:sp>
      <p:sp>
        <p:nvSpPr>
          <p:cNvPr id="9" name="Rectangle 8"/>
          <p:cNvSpPr/>
          <p:nvPr/>
        </p:nvSpPr>
        <p:spPr>
          <a:xfrm>
            <a:off x="548640" y="3127248"/>
            <a:ext cx="38100" cy="77724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127248"/>
            <a:ext cx="105156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PSYCHE</a:t>
            </a:r>
          </a:p>
        </p:txBody>
      </p:sp>
      <p:sp>
        <p:nvSpPr>
          <p:cNvPr id="11" name="TextBox 10"/>
          <p:cNvSpPr txBox="1"/>
          <p:nvPr/>
        </p:nvSpPr>
        <p:spPr>
          <a:xfrm>
            <a:off x="777240" y="3493008"/>
            <a:ext cx="10515600" cy="457200"/>
          </a:xfrm>
          <a:prstGeom prst="rect">
            <a:avLst/>
          </a:prstGeom>
          <a:noFill/>
        </p:spPr>
        <p:txBody>
          <a:bodyPr wrap="square" lIns="0" rIns="0" tIns="0" bIns="0" anchor="t">
            <a:spAutoFit/>
          </a:bodyPr>
          <a:lstStyle/>
          <a:p>
            <a:pPr algn="l">
              <a:lnSpc>
                <a:spcPct val="130000"/>
              </a:lnSpc>
            </a:pPr>
            <a:r>
              <a:rPr sz="1200" b="0" i="0">
                <a:solidFill>
                  <a:srgbClr val="E8ECF1"/>
                </a:solidFill>
                <a:latin typeface="Calibri"/>
              </a:rPr>
              <a:t>Emergent-sentience observatory.</a:t>
            </a:r>
          </a:p>
        </p:txBody>
      </p:sp>
      <p:sp>
        <p:nvSpPr>
          <p:cNvPr id="12" name="Rectangle 11"/>
          <p:cNvSpPr/>
          <p:nvPr/>
        </p:nvSpPr>
        <p:spPr>
          <a:xfrm>
            <a:off x="548640" y="3968496"/>
            <a:ext cx="38100" cy="77724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968496"/>
            <a:ext cx="105156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TRUST CENTER · TRUST EXCHANGE · PUBLIC TRUST PORTAL</a:t>
            </a:r>
          </a:p>
        </p:txBody>
      </p:sp>
      <p:sp>
        <p:nvSpPr>
          <p:cNvPr id="14" name="TextBox 13"/>
          <p:cNvSpPr txBox="1"/>
          <p:nvPr/>
        </p:nvSpPr>
        <p:spPr>
          <a:xfrm>
            <a:off x="777240" y="4334256"/>
            <a:ext cx="10515600" cy="457200"/>
          </a:xfrm>
          <a:prstGeom prst="rect">
            <a:avLst/>
          </a:prstGeom>
          <a:noFill/>
        </p:spPr>
        <p:txBody>
          <a:bodyPr wrap="square" lIns="0" rIns="0" tIns="0" bIns="0" anchor="t">
            <a:spAutoFit/>
          </a:bodyPr>
          <a:lstStyle/>
          <a:p>
            <a:pPr algn="l">
              <a:lnSpc>
                <a:spcPct val="130000"/>
              </a:lnSpc>
            </a:pPr>
            <a:r>
              <a:rPr sz="1200" b="0" i="0">
                <a:solidFill>
                  <a:srgbClr val="E8ECF1"/>
                </a:solidFill>
                <a:latin typeface="Calibri"/>
              </a:rPr>
              <a:t>Externally-facing proof distribution surface.</a:t>
            </a:r>
          </a:p>
        </p:txBody>
      </p:sp>
      <p:sp>
        <p:nvSpPr>
          <p:cNvPr id="15" name="Rectangle 14"/>
          <p:cNvSpPr/>
          <p:nvPr/>
        </p:nvSpPr>
        <p:spPr>
          <a:xfrm>
            <a:off x="548640" y="4809744"/>
            <a:ext cx="38100" cy="77724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809744"/>
            <a:ext cx="105156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AGENT ZERO TRUST</a:t>
            </a:r>
          </a:p>
        </p:txBody>
      </p:sp>
      <p:sp>
        <p:nvSpPr>
          <p:cNvPr id="17" name="TextBox 16"/>
          <p:cNvSpPr txBox="1"/>
          <p:nvPr/>
        </p:nvSpPr>
        <p:spPr>
          <a:xfrm>
            <a:off x="777240" y="5175504"/>
            <a:ext cx="10515600" cy="457200"/>
          </a:xfrm>
          <a:prstGeom prst="rect">
            <a:avLst/>
          </a:prstGeom>
          <a:noFill/>
        </p:spPr>
        <p:txBody>
          <a:bodyPr wrap="square" lIns="0" rIns="0" tIns="0" bIns="0" anchor="t">
            <a:spAutoFit/>
          </a:bodyPr>
          <a:lstStyle/>
          <a:p>
            <a:pPr algn="l">
              <a:lnSpc>
                <a:spcPct val="130000"/>
              </a:lnSpc>
            </a:pPr>
            <a:r>
              <a:rPr sz="1200" b="0" i="0">
                <a:solidFill>
                  <a:srgbClr val="E8ECF1"/>
                </a:solidFill>
                <a:latin typeface="Calibri"/>
              </a:rPr>
              <a:t>Live agent-gateway service enforcing OPA policy at the runtime boundary.</a:t>
            </a:r>
          </a:p>
        </p:txBody>
      </p:sp>
      <p:sp>
        <p:nvSpPr>
          <p:cNvPr id="18" name="Rectangle 17"/>
          <p:cNvSpPr/>
          <p:nvPr/>
        </p:nvSpPr>
        <p:spPr>
          <a:xfrm>
            <a:off x="548640" y="5650992"/>
            <a:ext cx="38100" cy="77724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650992"/>
            <a:ext cx="105156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LIVE CLAUDE-CLASS ADVISOR  ·  /a11oy/chat</a:t>
            </a:r>
          </a:p>
        </p:txBody>
      </p:sp>
      <p:sp>
        <p:nvSpPr>
          <p:cNvPr id="20" name="TextBox 19"/>
          <p:cNvSpPr txBox="1"/>
          <p:nvPr/>
        </p:nvSpPr>
        <p:spPr>
          <a:xfrm>
            <a:off x="777240" y="6016752"/>
            <a:ext cx="10515600" cy="457200"/>
          </a:xfrm>
          <a:prstGeom prst="rect">
            <a:avLst/>
          </a:prstGeom>
          <a:noFill/>
        </p:spPr>
        <p:txBody>
          <a:bodyPr wrap="square" lIns="0" rIns="0" tIns="0" bIns="0" anchor="t">
            <a:spAutoFit/>
          </a:bodyPr>
          <a:lstStyle/>
          <a:p>
            <a:pPr algn="l">
              <a:lnSpc>
                <a:spcPct val="130000"/>
              </a:lnSpc>
            </a:pPr>
            <a:r>
              <a:rPr sz="1200" b="0" i="0">
                <a:solidFill>
                  <a:srgbClr val="E8ECF1"/>
                </a:solidFill>
                <a:latin typeface="Calibri"/>
              </a:rPr>
              <a:t>System prompt locked to SOURCE_OF_TRUTH numbers; refuses fabricated metrics.</a:t>
            </a:r>
          </a:p>
        </p:txBody>
      </p:sp>
      <p:sp>
        <p:nvSpPr>
          <p:cNvPr id="21" name="Rectangle 20"/>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23" name="TextBox 22"/>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07  ·  THE PROTOCOL</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Covenant Proof Standard (CPS)</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1094415" cy="457200"/>
          </a:xfrm>
          <a:prstGeom prst="rect">
            <a:avLst/>
          </a:prstGeom>
          <a:noFill/>
        </p:spPr>
        <p:txBody>
          <a:bodyPr wrap="square" lIns="0" rIns="0" tIns="0" bIns="0" anchor="t">
            <a:spAutoFit/>
          </a:bodyPr>
          <a:lstStyle/>
          <a:p>
            <a:pPr algn="l">
              <a:lnSpc>
                <a:spcPct val="115000"/>
              </a:lnSpc>
            </a:pPr>
            <a:r>
              <a:rPr sz="1600" b="0" i="1">
                <a:solidFill>
                  <a:srgbClr val="C9B787"/>
                </a:solidFill>
                <a:latin typeface="Calibri"/>
              </a:rPr>
              <a:t>A payload-and-receipt protocol for cross-vertical governed actions.</a:t>
            </a:r>
          </a:p>
        </p:txBody>
      </p:sp>
      <p:sp>
        <p:nvSpPr>
          <p:cNvPr id="7" name="Rectangle 6"/>
          <p:cNvSpPr/>
          <p:nvPr/>
        </p:nvSpPr>
        <p:spPr>
          <a:xfrm>
            <a:off x="548640" y="2377440"/>
            <a:ext cx="11094415" cy="59436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23744"/>
            <a:ext cx="4572000" cy="365760"/>
          </a:xfrm>
          <a:prstGeom prst="rect">
            <a:avLst/>
          </a:prstGeom>
          <a:noFill/>
        </p:spPr>
        <p:txBody>
          <a:bodyPr wrap="square" lIns="0" rIns="0" tIns="0" bIns="0" anchor="t">
            <a:spAutoFit/>
          </a:bodyPr>
          <a:lstStyle/>
          <a:p>
            <a:pPr algn="l">
              <a:lnSpc>
                <a:spcPct val="115000"/>
              </a:lnSpc>
            </a:pPr>
            <a:r>
              <a:rPr sz="1400" b="1" i="0">
                <a:solidFill>
                  <a:srgbClr val="C9B787"/>
                </a:solidFill>
                <a:latin typeface="Consolas"/>
              </a:rPr>
              <a:t>POST /api/cps/runs</a:t>
            </a:r>
          </a:p>
        </p:txBody>
      </p:sp>
      <p:sp>
        <p:nvSpPr>
          <p:cNvPr id="9" name="TextBox 8"/>
          <p:cNvSpPr txBox="1"/>
          <p:nvPr/>
        </p:nvSpPr>
        <p:spPr>
          <a:xfrm>
            <a:off x="5577840" y="2542032"/>
            <a:ext cx="6858000" cy="365760"/>
          </a:xfrm>
          <a:prstGeom prst="rect">
            <a:avLst/>
          </a:prstGeom>
          <a:noFill/>
        </p:spPr>
        <p:txBody>
          <a:bodyPr wrap="square" lIns="0" rIns="0" tIns="0" bIns="0" anchor="t">
            <a:spAutoFit/>
          </a:bodyPr>
          <a:lstStyle/>
          <a:p>
            <a:pPr algn="l">
              <a:lnSpc>
                <a:spcPct val="115000"/>
              </a:lnSpc>
            </a:pPr>
            <a:r>
              <a:rPr sz="1300" b="0" i="0">
                <a:solidFill>
                  <a:srgbClr val="E8ECF1"/>
                </a:solidFill>
                <a:latin typeface="Calibri"/>
              </a:rPr>
              <a:t>Execute a payload against a tenant</a:t>
            </a:r>
          </a:p>
        </p:txBody>
      </p:sp>
      <p:sp>
        <p:nvSpPr>
          <p:cNvPr id="10" name="Rectangle 9"/>
          <p:cNvSpPr/>
          <p:nvPr/>
        </p:nvSpPr>
        <p:spPr>
          <a:xfrm>
            <a:off x="548640" y="3090672"/>
            <a:ext cx="11094415" cy="59436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236976"/>
            <a:ext cx="4572000" cy="365760"/>
          </a:xfrm>
          <a:prstGeom prst="rect">
            <a:avLst/>
          </a:prstGeom>
          <a:noFill/>
        </p:spPr>
        <p:txBody>
          <a:bodyPr wrap="square" lIns="0" rIns="0" tIns="0" bIns="0" anchor="t">
            <a:spAutoFit/>
          </a:bodyPr>
          <a:lstStyle/>
          <a:p>
            <a:pPr algn="l">
              <a:lnSpc>
                <a:spcPct val="115000"/>
              </a:lnSpc>
            </a:pPr>
            <a:r>
              <a:rPr sz="1400" b="1" i="0">
                <a:solidFill>
                  <a:srgbClr val="C9B787"/>
                </a:solidFill>
                <a:latin typeface="Consolas"/>
              </a:rPr>
              <a:t>POST /api/cps/runs/:id/approve</a:t>
            </a:r>
          </a:p>
        </p:txBody>
      </p:sp>
      <p:sp>
        <p:nvSpPr>
          <p:cNvPr id="12" name="TextBox 11"/>
          <p:cNvSpPr txBox="1"/>
          <p:nvPr/>
        </p:nvSpPr>
        <p:spPr>
          <a:xfrm>
            <a:off x="5577840" y="3255264"/>
            <a:ext cx="6858000" cy="365760"/>
          </a:xfrm>
          <a:prstGeom prst="rect">
            <a:avLst/>
          </a:prstGeom>
          <a:noFill/>
        </p:spPr>
        <p:txBody>
          <a:bodyPr wrap="square" lIns="0" rIns="0" tIns="0" bIns="0" anchor="t">
            <a:spAutoFit/>
          </a:bodyPr>
          <a:lstStyle/>
          <a:p>
            <a:pPr algn="l">
              <a:lnSpc>
                <a:spcPct val="115000"/>
              </a:lnSpc>
            </a:pPr>
            <a:r>
              <a:rPr sz="1300" b="0" i="0">
                <a:solidFill>
                  <a:srgbClr val="E8ECF1"/>
                </a:solidFill>
                <a:latin typeface="Calibri"/>
              </a:rPr>
              <a:t>Tier-checked human approval gate</a:t>
            </a:r>
          </a:p>
        </p:txBody>
      </p:sp>
      <p:sp>
        <p:nvSpPr>
          <p:cNvPr id="13" name="Rectangle 12"/>
          <p:cNvSpPr/>
          <p:nvPr/>
        </p:nvSpPr>
        <p:spPr>
          <a:xfrm>
            <a:off x="548640" y="3803904"/>
            <a:ext cx="11094415" cy="59436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950208"/>
            <a:ext cx="4572000" cy="365760"/>
          </a:xfrm>
          <a:prstGeom prst="rect">
            <a:avLst/>
          </a:prstGeom>
          <a:noFill/>
        </p:spPr>
        <p:txBody>
          <a:bodyPr wrap="square" lIns="0" rIns="0" tIns="0" bIns="0" anchor="t">
            <a:spAutoFit/>
          </a:bodyPr>
          <a:lstStyle/>
          <a:p>
            <a:pPr algn="l">
              <a:lnSpc>
                <a:spcPct val="115000"/>
              </a:lnSpc>
            </a:pPr>
            <a:r>
              <a:rPr sz="1400" b="1" i="0">
                <a:solidFill>
                  <a:srgbClr val="C9B787"/>
                </a:solidFill>
                <a:latin typeface="Consolas"/>
              </a:rPr>
              <a:t>POST /api/cps/runs/:id/rollback</a:t>
            </a:r>
          </a:p>
        </p:txBody>
      </p:sp>
      <p:sp>
        <p:nvSpPr>
          <p:cNvPr id="15" name="TextBox 14"/>
          <p:cNvSpPr txBox="1"/>
          <p:nvPr/>
        </p:nvSpPr>
        <p:spPr>
          <a:xfrm>
            <a:off x="5577840" y="3968496"/>
            <a:ext cx="6858000" cy="365760"/>
          </a:xfrm>
          <a:prstGeom prst="rect">
            <a:avLst/>
          </a:prstGeom>
          <a:noFill/>
        </p:spPr>
        <p:txBody>
          <a:bodyPr wrap="square" lIns="0" rIns="0" tIns="0" bIns="0" anchor="t">
            <a:spAutoFit/>
          </a:bodyPr>
          <a:lstStyle/>
          <a:p>
            <a:pPr algn="l">
              <a:lnSpc>
                <a:spcPct val="115000"/>
              </a:lnSpc>
            </a:pPr>
            <a:r>
              <a:rPr sz="1300" b="0" i="0">
                <a:solidFill>
                  <a:srgbClr val="E8ECF1"/>
                </a:solidFill>
                <a:latin typeface="Calibri"/>
              </a:rPr>
              <a:t>Verified rollback to prior state</a:t>
            </a:r>
          </a:p>
        </p:txBody>
      </p:sp>
      <p:sp>
        <p:nvSpPr>
          <p:cNvPr id="16" name="Rectangle 15"/>
          <p:cNvSpPr/>
          <p:nvPr/>
        </p:nvSpPr>
        <p:spPr>
          <a:xfrm>
            <a:off x="548640" y="4517136"/>
            <a:ext cx="11094415" cy="59436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663440"/>
            <a:ext cx="4572000" cy="365760"/>
          </a:xfrm>
          <a:prstGeom prst="rect">
            <a:avLst/>
          </a:prstGeom>
          <a:noFill/>
        </p:spPr>
        <p:txBody>
          <a:bodyPr wrap="square" lIns="0" rIns="0" tIns="0" bIns="0" anchor="t">
            <a:spAutoFit/>
          </a:bodyPr>
          <a:lstStyle/>
          <a:p>
            <a:pPr algn="l">
              <a:lnSpc>
                <a:spcPct val="115000"/>
              </a:lnSpc>
            </a:pPr>
            <a:r>
              <a:rPr sz="1400" b="1" i="0">
                <a:solidFill>
                  <a:srgbClr val="C9B787"/>
                </a:solidFill>
                <a:latin typeface="Consolas"/>
              </a:rPr>
              <a:t>POST /api/cps/payloads/:id/maturity</a:t>
            </a:r>
          </a:p>
        </p:txBody>
      </p:sp>
      <p:sp>
        <p:nvSpPr>
          <p:cNvPr id="18" name="TextBox 17"/>
          <p:cNvSpPr txBox="1"/>
          <p:nvPr/>
        </p:nvSpPr>
        <p:spPr>
          <a:xfrm>
            <a:off x="5577840" y="4681728"/>
            <a:ext cx="6858000" cy="365760"/>
          </a:xfrm>
          <a:prstGeom prst="rect">
            <a:avLst/>
          </a:prstGeom>
          <a:noFill/>
        </p:spPr>
        <p:txBody>
          <a:bodyPr wrap="square" lIns="0" rIns="0" tIns="0" bIns="0" anchor="t">
            <a:spAutoFit/>
          </a:bodyPr>
          <a:lstStyle/>
          <a:p>
            <a:pPr algn="l">
              <a:lnSpc>
                <a:spcPct val="115000"/>
              </a:lnSpc>
            </a:pPr>
            <a:r>
              <a:rPr sz="1300" b="0" i="0">
                <a:solidFill>
                  <a:srgbClr val="E8ECF1"/>
                </a:solidFill>
                <a:latin typeface="Calibri"/>
              </a:rPr>
              <a:t>Promote/demote payload maturity</a:t>
            </a:r>
          </a:p>
        </p:txBody>
      </p:sp>
      <p:sp>
        <p:nvSpPr>
          <p:cNvPr id="19" name="Rectangle 18"/>
          <p:cNvSpPr/>
          <p:nvPr/>
        </p:nvSpPr>
        <p:spPr>
          <a:xfrm>
            <a:off x="548640" y="5486400"/>
            <a:ext cx="11094415" cy="777240"/>
          </a:xfrm>
          <a:prstGeom prst="rect">
            <a:avLst/>
          </a:prstGeom>
          <a:solidFill>
            <a:srgbClr val="122238"/>
          </a:solidFill>
          <a:ln w="9525">
            <a:solidFill>
              <a:srgbClr val="C9B7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532120"/>
            <a:ext cx="10545775" cy="365760"/>
          </a:xfrm>
          <a:prstGeom prst="rect">
            <a:avLst/>
          </a:prstGeom>
          <a:noFill/>
        </p:spPr>
        <p:txBody>
          <a:bodyPr wrap="square" lIns="0" rIns="0" tIns="0" bIns="0" anchor="t">
            <a:spAutoFit/>
          </a:bodyPr>
          <a:lstStyle/>
          <a:p>
            <a:pPr algn="l">
              <a:lnSpc>
                <a:spcPct val="115000"/>
              </a:lnSpc>
            </a:pPr>
            <a:r>
              <a:rPr sz="1100" b="1" i="0">
                <a:solidFill>
                  <a:srgbClr val="C9B787"/>
                </a:solidFill>
                <a:latin typeface="Calibri"/>
              </a:rPr>
              <a:t>THREE FLAGSHIP PAYLOADS LIVE TODAY</a:t>
            </a:r>
          </a:p>
        </p:txBody>
      </p:sp>
      <p:sp>
        <p:nvSpPr>
          <p:cNvPr id="21" name="TextBox 20"/>
          <p:cNvSpPr txBox="1"/>
          <p:nvPr/>
        </p:nvSpPr>
        <p:spPr>
          <a:xfrm>
            <a:off x="822960" y="5852160"/>
            <a:ext cx="10545775" cy="365760"/>
          </a:xfrm>
          <a:prstGeom prst="rect">
            <a:avLst/>
          </a:prstGeom>
          <a:noFill/>
        </p:spPr>
        <p:txBody>
          <a:bodyPr wrap="square" lIns="0" rIns="0" tIns="0" bIns="0" anchor="t">
            <a:spAutoFit/>
          </a:bodyPr>
          <a:lstStyle/>
          <a:p>
            <a:pPr algn="l">
              <a:lnSpc>
                <a:spcPct val="115000"/>
              </a:lnSpc>
            </a:pPr>
            <a:r>
              <a:rPr sz="1300" b="0" i="0">
                <a:solidFill>
                  <a:srgbClr val="E8ECF1"/>
                </a:solidFill>
                <a:latin typeface="Calibri"/>
              </a:rPr>
              <a:t>Per-lane payloads rolling out across Vessels, Terra, Counsel, Carlota Jo.</a:t>
            </a:r>
          </a:p>
        </p:txBody>
      </p:sp>
      <p:sp>
        <p:nvSpPr>
          <p:cNvPr id="22" name="Rectangle 21"/>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24" name="TextBox 23"/>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08  ·  THE MATH, WRITTEN DOWN</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Three peer-style papers. Public. DOI-pinned.</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2286000"/>
          <a:ext cx="11094415" cy="3017520"/>
        </p:xfrm>
        <a:graphic>
          <a:graphicData uri="http://schemas.openxmlformats.org/drawingml/2006/table">
            <a:tbl>
              <a:tblPr firstRow="0" bandRow="0">
                <a:tableStyleId>{5C22544A-7EE6-4342-B048-85BDC9FD1C3A}</a:tableStyleId>
              </a:tblPr>
              <a:tblGrid>
                <a:gridCol w="2773603"/>
                <a:gridCol w="2773603"/>
                <a:gridCol w="2773603"/>
                <a:gridCol w="2773606"/>
              </a:tblGrid>
              <a:tr h="754380">
                <a:tc>
                  <a:txBody>
                    <a:bodyPr tIns="54864" bIns="54864"/>
                    <a:lstStyle/>
                    <a:p>
                      <a:pPr algn="l"/>
                      <a:r>
                        <a:rPr sz="1100" b="1">
                          <a:solidFill>
                            <a:srgbClr val="C9B787"/>
                          </a:solidFill>
                          <a:latin typeface="Calibri"/>
                        </a:rPr>
                        <a:t>Paper</a:t>
                      </a:r>
                    </a:p>
                  </a:txBody>
                  <a:tcPr>
                    <a:solidFill>
                      <a:srgbClr val="122238"/>
                    </a:solidFill>
                  </a:tcPr>
                </a:tc>
                <a:tc>
                  <a:txBody>
                    <a:bodyPr tIns="54864" bIns="54864"/>
                    <a:lstStyle/>
                    <a:p>
                      <a:pPr algn="l"/>
                      <a:r>
                        <a:rPr sz="1100" b="1">
                          <a:solidFill>
                            <a:srgbClr val="C9B787"/>
                          </a:solidFill>
                          <a:latin typeface="Calibri"/>
                        </a:rPr>
                        <a:t>Title</a:t>
                      </a:r>
                    </a:p>
                  </a:txBody>
                  <a:tcPr>
                    <a:solidFill>
                      <a:srgbClr val="122238"/>
                    </a:solidFill>
                  </a:tcPr>
                </a:tc>
                <a:tc>
                  <a:txBody>
                    <a:bodyPr tIns="54864" bIns="54864"/>
                    <a:lstStyle/>
                    <a:p>
                      <a:pPr algn="l"/>
                      <a:r>
                        <a:rPr sz="1100" b="1">
                          <a:solidFill>
                            <a:srgbClr val="C9B787"/>
                          </a:solidFill>
                          <a:latin typeface="Calibri"/>
                        </a:rPr>
                        <a:t>Subtitle</a:t>
                      </a:r>
                    </a:p>
                  </a:txBody>
                  <a:tcPr>
                    <a:solidFill>
                      <a:srgbClr val="122238"/>
                    </a:solidFill>
                  </a:tcPr>
                </a:tc>
                <a:tc>
                  <a:txBody>
                    <a:bodyPr tIns="54864" bIns="54864"/>
                    <a:lstStyle/>
                    <a:p>
                      <a:pPr algn="l"/>
                      <a:r>
                        <a:rPr sz="1100" b="1">
                          <a:solidFill>
                            <a:srgbClr val="C9B787"/>
                          </a:solidFill>
                          <a:latin typeface="Calibri"/>
                        </a:rPr>
                        <a:t>Status</a:t>
                      </a:r>
                    </a:p>
                  </a:txBody>
                  <a:tcPr>
                    <a:solidFill>
                      <a:srgbClr val="122238"/>
                    </a:solidFill>
                  </a:tcPr>
                </a:tc>
              </a:tr>
              <a:tr h="754380">
                <a:tc>
                  <a:txBody>
                    <a:bodyPr wrap="square" tIns="73152" bIns="73152"/>
                    <a:lstStyle/>
                    <a:p>
                      <a:pPr algn="l"/>
                      <a:r>
                        <a:rPr sz="1100" b="1">
                          <a:solidFill>
                            <a:srgbClr val="C9B787"/>
                          </a:solidFill>
                          <a:latin typeface="Calibri"/>
                        </a:rPr>
                        <a:t>v3</a:t>
                      </a:r>
                    </a:p>
                  </a:txBody>
                  <a:tcPr>
                    <a:solidFill>
                      <a:srgbClr val="0A1628"/>
                    </a:solidFill>
                  </a:tcPr>
                </a:tc>
                <a:tc>
                  <a:txBody>
                    <a:bodyPr wrap="square" tIns="73152" bIns="73152"/>
                    <a:lstStyle/>
                    <a:p>
                      <a:pPr algn="l"/>
                      <a:r>
                        <a:rPr sz="1100" b="0">
                          <a:solidFill>
                            <a:srgbClr val="E8ECF1"/>
                          </a:solidFill>
                          <a:latin typeface="Calibri"/>
                        </a:rPr>
                        <a:t>The Loop Is the Product</a:t>
                      </a:r>
                    </a:p>
                  </a:txBody>
                  <a:tcPr>
                    <a:solidFill>
                      <a:srgbClr val="0A1628"/>
                    </a:solidFill>
                  </a:tcPr>
                </a:tc>
                <a:tc>
                  <a:txBody>
                    <a:bodyPr wrap="square" tIns="73152" bIns="73152"/>
                    <a:lstStyle/>
                    <a:p>
                      <a:pPr algn="l"/>
                      <a:r>
                        <a:rPr sz="1100" b="0">
                          <a:solidFill>
                            <a:srgbClr val="E8ECF1"/>
                          </a:solidFill>
                          <a:latin typeface="Calibri"/>
                        </a:rPr>
                        <a:t>Measuring Bounded Recursion as a System Primitive for Auditable AI</a:t>
                      </a:r>
                    </a:p>
                  </a:txBody>
                  <a:tcPr>
                    <a:solidFill>
                      <a:srgbClr val="0A1628"/>
                    </a:solidFill>
                  </a:tcPr>
                </a:tc>
                <a:tc>
                  <a:txBody>
                    <a:bodyPr wrap="square" tIns="73152" bIns="73152"/>
                    <a:lstStyle/>
                    <a:p>
                      <a:pPr algn="l"/>
                      <a:r>
                        <a:rPr sz="1100" b="0">
                          <a:solidFill>
                            <a:srgbClr val="E8ECF1"/>
                          </a:solidFill>
                          <a:latin typeface="Calibri"/>
                        </a:rPr>
                        <a:t>Zenodo DOI 10.5281/zenodo.19944926  ·  CC-BY-4.0</a:t>
                      </a:r>
                    </a:p>
                  </a:txBody>
                  <a:tcPr>
                    <a:solidFill>
                      <a:srgbClr val="0A1628"/>
                    </a:solidFill>
                  </a:tcPr>
                </a:tc>
              </a:tr>
              <a:tr h="754380">
                <a:tc>
                  <a:txBody>
                    <a:bodyPr wrap="square" tIns="73152" bIns="73152"/>
                    <a:lstStyle/>
                    <a:p>
                      <a:pPr algn="l"/>
                      <a:r>
                        <a:rPr sz="1100" b="1">
                          <a:solidFill>
                            <a:srgbClr val="C9B787"/>
                          </a:solidFill>
                          <a:latin typeface="Calibri"/>
                        </a:rPr>
                        <a:t>v9 ★</a:t>
                      </a:r>
                    </a:p>
                  </a:txBody>
                  <a:tcPr>
                    <a:solidFill>
                      <a:srgbClr val="122238"/>
                    </a:solidFill>
                  </a:tcPr>
                </a:tc>
                <a:tc>
                  <a:txBody>
                    <a:bodyPr wrap="square" tIns="73152" bIns="73152"/>
                    <a:lstStyle/>
                    <a:p>
                      <a:pPr algn="l"/>
                      <a:r>
                        <a:rPr sz="1100" b="0">
                          <a:solidFill>
                            <a:srgbClr val="E8ECF1"/>
                          </a:solidFill>
                          <a:latin typeface="Calibri"/>
                        </a:rPr>
                        <a:t>The Lutar Invariant Family v1 → v7 → Ω</a:t>
                      </a:r>
                    </a:p>
                  </a:txBody>
                  <a:tcPr>
                    <a:solidFill>
                      <a:srgbClr val="122238"/>
                    </a:solidFill>
                  </a:tcPr>
                </a:tc>
                <a:tc>
                  <a:txBody>
                    <a:bodyPr wrap="square" tIns="73152" bIns="73152"/>
                    <a:lstStyle/>
                    <a:p>
                      <a:pPr algn="l"/>
                      <a:r>
                        <a:rPr sz="1100" b="0">
                          <a:solidFill>
                            <a:srgbClr val="E8ECF1"/>
                          </a:solidFill>
                          <a:latin typeface="Calibri"/>
                        </a:rPr>
                        <a:t>From Three-Term Foundation to Bianchi-Closed Fiber Bundle</a:t>
                      </a:r>
                    </a:p>
                  </a:txBody>
                  <a:tcPr>
                    <a:solidFill>
                      <a:srgbClr val="122238"/>
                    </a:solidFill>
                  </a:tcPr>
                </a:tc>
                <a:tc>
                  <a:txBody>
                    <a:bodyPr wrap="square" tIns="73152" bIns="73152"/>
                    <a:lstStyle/>
                    <a:p>
                      <a:pPr algn="l"/>
                      <a:r>
                        <a:rPr sz="1100" b="0">
                          <a:solidFill>
                            <a:srgbClr val="E8ECF1"/>
                          </a:solidFill>
                          <a:latin typeface="Calibri"/>
                        </a:rPr>
                        <a:t>17 pp · May 5 2026 · GitHub paper-v9-1.0.0 + Zenodo</a:t>
                      </a:r>
                    </a:p>
                  </a:txBody>
                  <a:tcPr>
                    <a:solidFill>
                      <a:srgbClr val="122238"/>
                    </a:solidFill>
                  </a:tcPr>
                </a:tc>
              </a:tr>
              <a:tr h="754380">
                <a:tc>
                  <a:txBody>
                    <a:bodyPr wrap="square" tIns="73152" bIns="73152"/>
                    <a:lstStyle/>
                    <a:p>
                      <a:pPr algn="l"/>
                      <a:r>
                        <a:rPr sz="1100" b="1">
                          <a:solidFill>
                            <a:srgbClr val="C9B787"/>
                          </a:solidFill>
                          <a:latin typeface="Calibri"/>
                        </a:rPr>
                        <a:t>v10 ★</a:t>
                      </a:r>
                    </a:p>
                  </a:txBody>
                  <a:tcPr>
                    <a:solidFill>
                      <a:srgbClr val="0A1628"/>
                    </a:solidFill>
                  </a:tcPr>
                </a:tc>
                <a:tc>
                  <a:txBody>
                    <a:bodyPr wrap="square" tIns="73152" bIns="73152"/>
                    <a:lstStyle/>
                    <a:p>
                      <a:pPr algn="l"/>
                      <a:r>
                        <a:rPr sz="1100" b="0">
                          <a:solidFill>
                            <a:srgbClr val="E8ECF1"/>
                          </a:solidFill>
                          <a:latin typeface="Calibri"/>
                        </a:rPr>
                        <a:t>The Audit Closure Operator Λ₁₀</a:t>
                      </a:r>
                    </a:p>
                  </a:txBody>
                  <a:tcPr>
                    <a:solidFill>
                      <a:srgbClr val="0A1628"/>
                    </a:solidFill>
                  </a:tcPr>
                </a:tc>
                <a:tc>
                  <a:txBody>
                    <a:bodyPr wrap="square" tIns="73152" bIns="73152"/>
                    <a:lstStyle/>
                    <a:p>
                      <a:pPr algn="l"/>
                      <a:r>
                        <a:rPr sz="1100" b="0">
                          <a:solidFill>
                            <a:srgbClr val="E8ECF1"/>
                          </a:solidFill>
                          <a:latin typeface="Calibri"/>
                        </a:rPr>
                        <a:t>Formalising the Implementation Contract of the Lutar Family</a:t>
                      </a:r>
                    </a:p>
                  </a:txBody>
                  <a:tcPr>
                    <a:solidFill>
                      <a:srgbClr val="0A1628"/>
                    </a:solidFill>
                  </a:tcPr>
                </a:tc>
                <a:tc>
                  <a:txBody>
                    <a:bodyPr wrap="square" tIns="73152" bIns="73152"/>
                    <a:lstStyle/>
                    <a:p>
                      <a:pPr algn="l"/>
                      <a:r>
                        <a:rPr sz="1100" b="0">
                          <a:solidFill>
                            <a:srgbClr val="E8ECF1"/>
                          </a:solidFill>
                          <a:latin typeface="Calibri"/>
                        </a:rPr>
                        <a:t>11 pp + Appendix A + Lutar one-pager · May 5 2026</a:t>
                      </a:r>
                    </a:p>
                  </a:txBody>
                  <a:tcPr>
                    <a:solidFill>
                      <a:srgbClr val="0A1628"/>
                    </a:solidFill>
                  </a:tcPr>
                </a:tc>
              </a:tr>
            </a:tbl>
          </a:graphicData>
        </a:graphic>
      </p:graphicFrame>
      <p:sp>
        <p:nvSpPr>
          <p:cNvPr id="7" name="Rectangle 6"/>
          <p:cNvSpPr/>
          <p:nvPr/>
        </p:nvSpPr>
        <p:spPr>
          <a:xfrm>
            <a:off x="548640" y="5486400"/>
            <a:ext cx="11094415" cy="777240"/>
          </a:xfrm>
          <a:prstGeom prst="rect">
            <a:avLst/>
          </a:prstGeom>
          <a:solidFill>
            <a:srgbClr val="122238"/>
          </a:solidFill>
          <a:ln w="9525">
            <a:solidFill>
              <a:srgbClr val="C9B7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532120"/>
            <a:ext cx="10545775" cy="731520"/>
          </a:xfrm>
          <a:prstGeom prst="rect">
            <a:avLst/>
          </a:prstGeom>
          <a:noFill/>
        </p:spPr>
        <p:txBody>
          <a:bodyPr wrap="square" lIns="0" rIns="0" tIns="0" bIns="0" anchor="t">
            <a:spAutoFit/>
          </a:bodyPr>
          <a:lstStyle/>
          <a:p>
            <a:pPr algn="l">
              <a:lnSpc>
                <a:spcPct val="130000"/>
              </a:lnSpc>
            </a:pPr>
            <a:r>
              <a:rPr sz="1200" b="0" i="1">
                <a:solidFill>
                  <a:srgbClr val="E8ECF1"/>
                </a:solidFill>
                <a:latin typeface="Calibri"/>
              </a:rPr>
              <a:t>v10 is a meta-invariant on v9. It introduces no new physical term — its only job is to certify, layer by layer, that every formula in v9 actually executes against the live shipping repo.</a:t>
            </a:r>
          </a:p>
          <a:p>
            <a:pPr algn="l">
              <a:lnSpc>
                <a:spcPct val="130000"/>
              </a:lnSpc>
            </a:pPr>
            <a:r>
              <a:rPr sz="1200" b="0" i="1">
                <a:solidFill>
                  <a:srgbClr val="E8ECF1"/>
                </a:solidFill>
                <a:latin typeface="Calibri"/>
              </a:rPr>
              <a:t>The platform audits its own thesis.</a:t>
            </a:r>
          </a:p>
        </p:txBody>
      </p:sp>
      <p:sp>
        <p:nvSpPr>
          <p:cNvPr id="9" name="Rectangle 8"/>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11" name="TextBox 10"/>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09  ·  THE NUMBERS</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Re-runnable, not estimated.</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3999" y="2194560"/>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8591" y="2286000"/>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8</a:t>
            </a:r>
          </a:p>
        </p:txBody>
      </p:sp>
      <p:sp>
        <p:nvSpPr>
          <p:cNvPr id="8" name="TextBox 7"/>
          <p:cNvSpPr txBox="1"/>
          <p:nvPr/>
        </p:nvSpPr>
        <p:spPr>
          <a:xfrm>
            <a:off x="618591" y="2697480"/>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Customer-facing surfaces</a:t>
            </a:r>
          </a:p>
        </p:txBody>
      </p:sp>
      <p:sp>
        <p:nvSpPr>
          <p:cNvPr id="9" name="TextBox 8"/>
          <p:cNvSpPr txBox="1"/>
          <p:nvPr/>
        </p:nvSpPr>
        <p:spPr>
          <a:xfrm>
            <a:off x="618591" y="2907792"/>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 A11oy orchestration</a:t>
            </a:r>
          </a:p>
        </p:txBody>
      </p:sp>
      <p:sp>
        <p:nvSpPr>
          <p:cNvPr id="10" name="Rectangle 9"/>
          <p:cNvSpPr/>
          <p:nvPr/>
        </p:nvSpPr>
        <p:spPr>
          <a:xfrm>
            <a:off x="3316071" y="2194560"/>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0663" y="2286000"/>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6</a:t>
            </a:r>
          </a:p>
        </p:txBody>
      </p:sp>
      <p:sp>
        <p:nvSpPr>
          <p:cNvPr id="12" name="TextBox 11"/>
          <p:cNvSpPr txBox="1"/>
          <p:nvPr/>
        </p:nvSpPr>
        <p:spPr>
          <a:xfrm>
            <a:off x="3480663" y="2697480"/>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Platform primitives</a:t>
            </a:r>
          </a:p>
        </p:txBody>
      </p:sp>
      <p:sp>
        <p:nvSpPr>
          <p:cNvPr id="13" name="TextBox 12"/>
          <p:cNvSpPr txBox="1"/>
          <p:nvPr/>
        </p:nvSpPr>
        <p:spPr>
          <a:xfrm>
            <a:off x="3480663" y="2907792"/>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Same shape, every vertical</a:t>
            </a:r>
          </a:p>
        </p:txBody>
      </p:sp>
      <p:sp>
        <p:nvSpPr>
          <p:cNvPr id="14" name="Rectangle 13"/>
          <p:cNvSpPr/>
          <p:nvPr/>
        </p:nvSpPr>
        <p:spPr>
          <a:xfrm>
            <a:off x="6178143" y="2194560"/>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2735" y="2286000"/>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848</a:t>
            </a:r>
          </a:p>
        </p:txBody>
      </p:sp>
      <p:sp>
        <p:nvSpPr>
          <p:cNvPr id="16" name="TextBox 15"/>
          <p:cNvSpPr txBox="1"/>
          <p:nvPr/>
        </p:nvSpPr>
        <p:spPr>
          <a:xfrm>
            <a:off x="6342735" y="2697480"/>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Database tables</a:t>
            </a:r>
          </a:p>
        </p:txBody>
      </p:sp>
      <p:sp>
        <p:nvSpPr>
          <p:cNvPr id="17" name="TextBox 16"/>
          <p:cNvSpPr txBox="1"/>
          <p:nvPr/>
        </p:nvSpPr>
        <p:spPr>
          <a:xfrm>
            <a:off x="6342735" y="2907792"/>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Provisioned &amp; live</a:t>
            </a:r>
          </a:p>
        </p:txBody>
      </p:sp>
      <p:sp>
        <p:nvSpPr>
          <p:cNvPr id="18" name="Rectangle 17"/>
          <p:cNvSpPr/>
          <p:nvPr/>
        </p:nvSpPr>
        <p:spPr>
          <a:xfrm>
            <a:off x="9040215" y="2194560"/>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4807" y="2286000"/>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5,524</a:t>
            </a:r>
          </a:p>
        </p:txBody>
      </p:sp>
      <p:sp>
        <p:nvSpPr>
          <p:cNvPr id="20" name="TextBox 19"/>
          <p:cNvSpPr txBox="1"/>
          <p:nvPr/>
        </p:nvSpPr>
        <p:spPr>
          <a:xfrm>
            <a:off x="9204807" y="2697480"/>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API endpoint declarations</a:t>
            </a:r>
          </a:p>
        </p:txBody>
      </p:sp>
      <p:sp>
        <p:nvSpPr>
          <p:cNvPr id="21" name="TextBox 20"/>
          <p:cNvSpPr txBox="1"/>
          <p:nvPr/>
        </p:nvSpPr>
        <p:spPr>
          <a:xfrm>
            <a:off x="9204807" y="2907792"/>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Across the monorepo</a:t>
            </a:r>
          </a:p>
        </p:txBody>
      </p:sp>
      <p:sp>
        <p:nvSpPr>
          <p:cNvPr id="22" name="Rectangle 21"/>
          <p:cNvSpPr/>
          <p:nvPr/>
        </p:nvSpPr>
        <p:spPr>
          <a:xfrm>
            <a:off x="453999" y="3319272"/>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8591" y="3410712"/>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126</a:t>
            </a:r>
          </a:p>
        </p:txBody>
      </p:sp>
      <p:sp>
        <p:nvSpPr>
          <p:cNvPr id="24" name="TextBox 23"/>
          <p:cNvSpPr txBox="1"/>
          <p:nvPr/>
        </p:nvSpPr>
        <p:spPr>
          <a:xfrm>
            <a:off x="618591" y="3822192"/>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Monorepo packages</a:t>
            </a:r>
          </a:p>
        </p:txBody>
      </p:sp>
      <p:sp>
        <p:nvSpPr>
          <p:cNvPr id="25" name="TextBox 24"/>
          <p:cNvSpPr txBox="1"/>
          <p:nvPr/>
        </p:nvSpPr>
        <p:spPr>
          <a:xfrm>
            <a:off x="618591" y="4032504"/>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Workspace total</a:t>
            </a:r>
          </a:p>
        </p:txBody>
      </p:sp>
      <p:sp>
        <p:nvSpPr>
          <p:cNvPr id="26" name="Rectangle 25"/>
          <p:cNvSpPr/>
          <p:nvPr/>
        </p:nvSpPr>
        <p:spPr>
          <a:xfrm>
            <a:off x="3316071" y="3319272"/>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80663" y="3410712"/>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28</a:t>
            </a:r>
          </a:p>
        </p:txBody>
      </p:sp>
      <p:sp>
        <p:nvSpPr>
          <p:cNvPr id="28" name="TextBox 27"/>
          <p:cNvSpPr txBox="1"/>
          <p:nvPr/>
        </p:nvSpPr>
        <p:spPr>
          <a:xfrm>
            <a:off x="3480663" y="3822192"/>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Ouroboros packages</a:t>
            </a:r>
          </a:p>
        </p:txBody>
      </p:sp>
      <p:sp>
        <p:nvSpPr>
          <p:cNvPr id="29" name="TextBox 28"/>
          <p:cNvSpPr txBox="1"/>
          <p:nvPr/>
        </p:nvSpPr>
        <p:spPr>
          <a:xfrm>
            <a:off x="3480663" y="4032504"/>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Open-source runtime</a:t>
            </a:r>
          </a:p>
        </p:txBody>
      </p:sp>
      <p:sp>
        <p:nvSpPr>
          <p:cNvPr id="30" name="Rectangle 29"/>
          <p:cNvSpPr/>
          <p:nvPr/>
        </p:nvSpPr>
        <p:spPr>
          <a:xfrm>
            <a:off x="6178143" y="3319272"/>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42735" y="3410712"/>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133</a:t>
            </a:r>
          </a:p>
        </p:txBody>
      </p:sp>
      <p:sp>
        <p:nvSpPr>
          <p:cNvPr id="32" name="TextBox 31"/>
          <p:cNvSpPr txBox="1"/>
          <p:nvPr/>
        </p:nvSpPr>
        <p:spPr>
          <a:xfrm>
            <a:off x="6342735" y="3822192"/>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Ouroboros runtime tests</a:t>
            </a:r>
          </a:p>
        </p:txBody>
      </p:sp>
      <p:sp>
        <p:nvSpPr>
          <p:cNvPr id="33" name="TextBox 32"/>
          <p:cNvSpPr txBox="1"/>
          <p:nvPr/>
        </p:nvSpPr>
        <p:spPr>
          <a:xfrm>
            <a:off x="6342735" y="4032504"/>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Live test calls</a:t>
            </a:r>
          </a:p>
        </p:txBody>
      </p:sp>
      <p:sp>
        <p:nvSpPr>
          <p:cNvPr id="34" name="Rectangle 33"/>
          <p:cNvSpPr/>
          <p:nvPr/>
        </p:nvSpPr>
        <p:spPr>
          <a:xfrm>
            <a:off x="9040215" y="3319272"/>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04807" y="3410712"/>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62</a:t>
            </a:r>
          </a:p>
        </p:txBody>
      </p:sp>
      <p:sp>
        <p:nvSpPr>
          <p:cNvPr id="36" name="TextBox 35"/>
          <p:cNvSpPr txBox="1"/>
          <p:nvPr/>
        </p:nvSpPr>
        <p:spPr>
          <a:xfrm>
            <a:off x="9204807" y="3822192"/>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Ouroboros guardrails tests</a:t>
            </a:r>
          </a:p>
        </p:txBody>
      </p:sp>
      <p:sp>
        <p:nvSpPr>
          <p:cNvPr id="37" name="TextBox 36"/>
          <p:cNvSpPr txBox="1"/>
          <p:nvPr/>
        </p:nvSpPr>
        <p:spPr>
          <a:xfrm>
            <a:off x="9204807" y="4032504"/>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Bounded-loop invariants</a:t>
            </a:r>
          </a:p>
        </p:txBody>
      </p:sp>
      <p:sp>
        <p:nvSpPr>
          <p:cNvPr id="38" name="Rectangle 37"/>
          <p:cNvSpPr/>
          <p:nvPr/>
        </p:nvSpPr>
        <p:spPr>
          <a:xfrm>
            <a:off x="453999" y="4443984"/>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8591" y="4535424"/>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76 / 95</a:t>
            </a:r>
          </a:p>
        </p:txBody>
      </p:sp>
      <p:sp>
        <p:nvSpPr>
          <p:cNvPr id="40" name="TextBox 39"/>
          <p:cNvSpPr txBox="1"/>
          <p:nvPr/>
        </p:nvSpPr>
        <p:spPr>
          <a:xfrm>
            <a:off x="618591" y="4946904"/>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Codex v11 nodes / edges</a:t>
            </a:r>
          </a:p>
        </p:txBody>
      </p:sp>
      <p:sp>
        <p:nvSpPr>
          <p:cNvPr id="41" name="TextBox 40"/>
          <p:cNvSpPr txBox="1"/>
          <p:nvPr/>
        </p:nvSpPr>
        <p:spPr>
          <a:xfrm>
            <a:off x="618591" y="5157216"/>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11 domains</a:t>
            </a:r>
          </a:p>
        </p:txBody>
      </p:sp>
      <p:sp>
        <p:nvSpPr>
          <p:cNvPr id="42" name="Rectangle 41"/>
          <p:cNvSpPr/>
          <p:nvPr/>
        </p:nvSpPr>
        <p:spPr>
          <a:xfrm>
            <a:off x="3316071" y="4443984"/>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80663" y="4535424"/>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126</a:t>
            </a:r>
          </a:p>
        </p:txBody>
      </p:sp>
      <p:sp>
        <p:nvSpPr>
          <p:cNvPr id="44" name="TextBox 43"/>
          <p:cNvSpPr txBox="1"/>
          <p:nvPr/>
        </p:nvSpPr>
        <p:spPr>
          <a:xfrm>
            <a:off x="3480663" y="4946904"/>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Security tests passing</a:t>
            </a:r>
          </a:p>
        </p:txBody>
      </p:sp>
      <p:sp>
        <p:nvSpPr>
          <p:cNvPr id="45" name="TextBox 44"/>
          <p:cNvSpPr txBox="1"/>
          <p:nvPr/>
        </p:nvSpPr>
        <p:spPr>
          <a:xfrm>
            <a:off x="3480663" y="5157216"/>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CodeQL clean</a:t>
            </a:r>
          </a:p>
        </p:txBody>
      </p:sp>
      <p:sp>
        <p:nvSpPr>
          <p:cNvPr id="46" name="Rectangle 45"/>
          <p:cNvSpPr/>
          <p:nvPr/>
        </p:nvSpPr>
        <p:spPr>
          <a:xfrm>
            <a:off x="6178143" y="4443984"/>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42735" y="4535424"/>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23</a:t>
            </a:r>
          </a:p>
        </p:txBody>
      </p:sp>
      <p:sp>
        <p:nvSpPr>
          <p:cNvPr id="48" name="TextBox 47"/>
          <p:cNvSpPr txBox="1"/>
          <p:nvPr/>
        </p:nvSpPr>
        <p:spPr>
          <a:xfrm>
            <a:off x="6342735" y="4946904"/>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CI workflows</a:t>
            </a:r>
          </a:p>
        </p:txBody>
      </p:sp>
      <p:sp>
        <p:nvSpPr>
          <p:cNvPr id="49" name="TextBox 48"/>
          <p:cNvSpPr txBox="1"/>
          <p:nvPr/>
        </p:nvSpPr>
        <p:spPr>
          <a:xfrm>
            <a:off x="6342735" y="5157216"/>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Per-PR, per-merge</a:t>
            </a:r>
          </a:p>
        </p:txBody>
      </p:sp>
      <p:sp>
        <p:nvSpPr>
          <p:cNvPr id="50" name="Rectangle 49"/>
          <p:cNvSpPr/>
          <p:nvPr/>
        </p:nvSpPr>
        <p:spPr>
          <a:xfrm>
            <a:off x="9040215" y="4443984"/>
            <a:ext cx="2697480" cy="96012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04807" y="4535424"/>
            <a:ext cx="2368296" cy="411480"/>
          </a:xfrm>
          <a:prstGeom prst="rect">
            <a:avLst/>
          </a:prstGeom>
          <a:noFill/>
        </p:spPr>
        <p:txBody>
          <a:bodyPr wrap="square" lIns="0" rIns="0" tIns="0" bIns="0" anchor="t">
            <a:spAutoFit/>
          </a:bodyPr>
          <a:lstStyle/>
          <a:p>
            <a:pPr algn="l">
              <a:lnSpc>
                <a:spcPct val="115000"/>
              </a:lnSpc>
            </a:pPr>
            <a:r>
              <a:rPr sz="2200" b="1" i="0">
                <a:solidFill>
                  <a:srgbClr val="C9B787"/>
                </a:solidFill>
                <a:latin typeface="Calibri"/>
              </a:rPr>
              <a:t>3</a:t>
            </a:r>
          </a:p>
        </p:txBody>
      </p:sp>
      <p:sp>
        <p:nvSpPr>
          <p:cNvPr id="52" name="TextBox 51"/>
          <p:cNvSpPr txBox="1"/>
          <p:nvPr/>
        </p:nvSpPr>
        <p:spPr>
          <a:xfrm>
            <a:off x="9204807" y="4946904"/>
            <a:ext cx="2368296" cy="274320"/>
          </a:xfrm>
          <a:prstGeom prst="rect">
            <a:avLst/>
          </a:prstGeom>
          <a:noFill/>
        </p:spPr>
        <p:txBody>
          <a:bodyPr wrap="square" lIns="0" rIns="0" tIns="0" bIns="0" anchor="t">
            <a:spAutoFit/>
          </a:bodyPr>
          <a:lstStyle/>
          <a:p>
            <a:pPr algn="l">
              <a:lnSpc>
                <a:spcPct val="115000"/>
              </a:lnSpc>
            </a:pPr>
            <a:r>
              <a:rPr sz="1100" b="1" i="0">
                <a:solidFill>
                  <a:srgbClr val="E8ECF1"/>
                </a:solidFill>
                <a:latin typeface="Calibri"/>
              </a:rPr>
              <a:t>Peer-style papers</a:t>
            </a:r>
          </a:p>
        </p:txBody>
      </p:sp>
      <p:sp>
        <p:nvSpPr>
          <p:cNvPr id="53" name="TextBox 52"/>
          <p:cNvSpPr txBox="1"/>
          <p:nvPr/>
        </p:nvSpPr>
        <p:spPr>
          <a:xfrm>
            <a:off x="9204807" y="5157216"/>
            <a:ext cx="2368296" cy="228600"/>
          </a:xfrm>
          <a:prstGeom prst="rect">
            <a:avLst/>
          </a:prstGeom>
          <a:noFill/>
        </p:spPr>
        <p:txBody>
          <a:bodyPr wrap="square" lIns="0" rIns="0" tIns="0" bIns="0" anchor="t">
            <a:spAutoFit/>
          </a:bodyPr>
          <a:lstStyle/>
          <a:p>
            <a:pPr algn="l">
              <a:lnSpc>
                <a:spcPct val="115000"/>
              </a:lnSpc>
            </a:pPr>
            <a:r>
              <a:rPr sz="900" b="0" i="0">
                <a:solidFill>
                  <a:srgbClr val="9AA6B8"/>
                </a:solidFill>
                <a:latin typeface="Calibri"/>
              </a:rPr>
              <a:t>DOI-pinned, CC-BY-4.0</a:t>
            </a:r>
          </a:p>
        </p:txBody>
      </p:sp>
      <p:sp>
        <p:nvSpPr>
          <p:cNvPr id="54" name="TextBox 53"/>
          <p:cNvSpPr txBox="1"/>
          <p:nvPr/>
        </p:nvSpPr>
        <p:spPr>
          <a:xfrm>
            <a:off x="548640" y="5989320"/>
            <a:ext cx="11094415" cy="365760"/>
          </a:xfrm>
          <a:prstGeom prst="rect">
            <a:avLst/>
          </a:prstGeom>
          <a:noFill/>
        </p:spPr>
        <p:txBody>
          <a:bodyPr wrap="square" lIns="0" rIns="0" tIns="0" bIns="0" anchor="t">
            <a:spAutoFit/>
          </a:bodyPr>
          <a:lstStyle/>
          <a:p>
            <a:pPr algn="ctr">
              <a:lnSpc>
                <a:spcPct val="115000"/>
              </a:lnSpc>
            </a:pPr>
            <a:r>
              <a:rPr sz="1200" b="0" i="1">
                <a:solidFill>
                  <a:srgbClr val="C9B787"/>
                </a:solidFill>
                <a:latin typeface="Calibri"/>
              </a:rPr>
              <a:t>Every number ships with its verification command in SOURCE_OF_TRUTH.md.  We do not estimate.</a:t>
            </a:r>
          </a:p>
        </p:txBody>
      </p:sp>
      <p:sp>
        <p:nvSpPr>
          <p:cNvPr id="55" name="Rectangle 54"/>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57" name="TextBox 56"/>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10  ·  GOVERNMENT ALIGNMENT</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Five demand vectors, mapped to shipped capability.</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2286000"/>
          <a:ext cx="11094415" cy="3291840"/>
        </p:xfrm>
        <a:graphic>
          <a:graphicData uri="http://schemas.openxmlformats.org/drawingml/2006/table">
            <a:tbl>
              <a:tblPr firstRow="0" bandRow="0">
                <a:tableStyleId>{5C22544A-7EE6-4342-B048-85BDC9FD1C3A}</a:tableStyleId>
              </a:tblPr>
              <a:tblGrid>
                <a:gridCol w="5547207"/>
                <a:gridCol w="5547208"/>
              </a:tblGrid>
              <a:tr h="548640">
                <a:tc>
                  <a:txBody>
                    <a:bodyPr tIns="54864" bIns="54864"/>
                    <a:lstStyle/>
                    <a:p>
                      <a:pPr algn="l"/>
                      <a:r>
                        <a:rPr sz="1400" b="1">
                          <a:solidFill>
                            <a:srgbClr val="C9B787"/>
                          </a:solidFill>
                          <a:latin typeface="Calibri"/>
                        </a:rPr>
                        <a:t>Demand vector</a:t>
                      </a:r>
                    </a:p>
                  </a:txBody>
                  <a:tcPr>
                    <a:solidFill>
                      <a:srgbClr val="122238"/>
                    </a:solidFill>
                  </a:tcPr>
                </a:tc>
                <a:tc>
                  <a:txBody>
                    <a:bodyPr tIns="54864" bIns="54864"/>
                    <a:lstStyle/>
                    <a:p>
                      <a:pPr algn="l"/>
                      <a:r>
                        <a:rPr sz="1400" b="1">
                          <a:solidFill>
                            <a:srgbClr val="C9B787"/>
                          </a:solidFill>
                          <a:latin typeface="Calibri"/>
                        </a:rPr>
                        <a:t>SZL surface</a:t>
                      </a:r>
                    </a:p>
                  </a:txBody>
                  <a:tcPr>
                    <a:solidFill>
                      <a:srgbClr val="122238"/>
                    </a:solidFill>
                  </a:tcPr>
                </a:tc>
              </a:tr>
              <a:tr h="548640">
                <a:tc>
                  <a:txBody>
                    <a:bodyPr wrap="square" tIns="73152" bIns="73152"/>
                    <a:lstStyle/>
                    <a:p>
                      <a:pPr algn="l"/>
                      <a:r>
                        <a:rPr sz="1400" b="1">
                          <a:solidFill>
                            <a:srgbClr val="E8ECF1"/>
                          </a:solidFill>
                          <a:latin typeface="Calibri"/>
                        </a:rPr>
                        <a:t>Operational transparency / IG audit</a:t>
                      </a:r>
                    </a:p>
                  </a:txBody>
                  <a:tcPr>
                    <a:solidFill>
                      <a:srgbClr val="0A1628"/>
                    </a:solidFill>
                  </a:tcPr>
                </a:tc>
                <a:tc>
                  <a:txBody>
                    <a:bodyPr wrap="square" tIns="73152" bIns="73152"/>
                    <a:lstStyle/>
                    <a:p>
                      <a:pPr algn="l"/>
                      <a:r>
                        <a:rPr sz="1400" b="0">
                          <a:solidFill>
                            <a:srgbClr val="E8ECF1"/>
                          </a:solidFill>
                          <a:latin typeface="Calibri"/>
                        </a:rPr>
                        <a:t>Outcome Graph + Proof Chain + CPS payloads</a:t>
                      </a:r>
                    </a:p>
                  </a:txBody>
                  <a:tcPr>
                    <a:solidFill>
                      <a:srgbClr val="0A1628"/>
                    </a:solidFill>
                  </a:tcPr>
                </a:tc>
              </a:tr>
              <a:tr h="548640">
                <a:tc>
                  <a:txBody>
                    <a:bodyPr wrap="square" tIns="73152" bIns="73152"/>
                    <a:lstStyle/>
                    <a:p>
                      <a:pPr algn="l"/>
                      <a:r>
                        <a:rPr sz="1400" b="1">
                          <a:solidFill>
                            <a:srgbClr val="E8ECF1"/>
                          </a:solidFill>
                          <a:latin typeface="Calibri"/>
                        </a:rPr>
                        <a:t>Cybersecurity / Zero Trust</a:t>
                      </a:r>
                    </a:p>
                  </a:txBody>
                  <a:tcPr>
                    <a:solidFill>
                      <a:srgbClr val="122238"/>
                    </a:solidFill>
                  </a:tcPr>
                </a:tc>
                <a:tc>
                  <a:txBody>
                    <a:bodyPr wrap="square" tIns="73152" bIns="73152"/>
                    <a:lstStyle/>
                    <a:p>
                      <a:pPr algn="l"/>
                      <a:r>
                        <a:rPr sz="1400" b="0">
                          <a:solidFill>
                            <a:srgbClr val="E8ECF1"/>
                          </a:solidFill>
                          <a:latin typeface="Calibri"/>
                        </a:rPr>
                        <a:t>Sentra + governed adversary loop + agent gateway</a:t>
                      </a:r>
                    </a:p>
                  </a:txBody>
                  <a:tcPr>
                    <a:solidFill>
                      <a:srgbClr val="122238"/>
                    </a:solidFill>
                  </a:tcPr>
                </a:tc>
              </a:tr>
              <a:tr h="548640">
                <a:tc>
                  <a:txBody>
                    <a:bodyPr wrap="square" tIns="73152" bIns="73152"/>
                    <a:lstStyle/>
                    <a:p>
                      <a:pPr algn="l"/>
                      <a:r>
                        <a:rPr sz="1400" b="1">
                          <a:solidFill>
                            <a:srgbClr val="E8ECF1"/>
                          </a:solidFill>
                          <a:latin typeface="Calibri"/>
                        </a:rPr>
                        <a:t>AI governance / OMB M-24-10 / NIST AI RMF</a:t>
                      </a:r>
                    </a:p>
                  </a:txBody>
                  <a:tcPr>
                    <a:solidFill>
                      <a:srgbClr val="0A1628"/>
                    </a:solidFill>
                  </a:tcPr>
                </a:tc>
                <a:tc>
                  <a:txBody>
                    <a:bodyPr wrap="square" tIns="73152" bIns="73152"/>
                    <a:lstStyle/>
                    <a:p>
                      <a:pPr algn="l"/>
                      <a:r>
                        <a:rPr sz="1400" b="0">
                          <a:solidFill>
                            <a:srgbClr val="E8ECF1"/>
                          </a:solidFill>
                          <a:latin typeface="Calibri"/>
                        </a:rPr>
                        <a:t>Covenant Policy + Argo guardrails + mirror eval</a:t>
                      </a:r>
                    </a:p>
                  </a:txBody>
                  <a:tcPr>
                    <a:solidFill>
                      <a:srgbClr val="0A1628"/>
                    </a:solidFill>
                  </a:tcPr>
                </a:tc>
              </a:tr>
              <a:tr h="548640">
                <a:tc>
                  <a:txBody>
                    <a:bodyPr wrap="square" tIns="73152" bIns="73152"/>
                    <a:lstStyle/>
                    <a:p>
                      <a:pPr algn="l"/>
                      <a:r>
                        <a:rPr sz="1400" b="1">
                          <a:solidFill>
                            <a:srgbClr val="E8ECF1"/>
                          </a:solidFill>
                          <a:latin typeface="Calibri"/>
                        </a:rPr>
                        <a:t>Cross-system data lineage</a:t>
                      </a:r>
                    </a:p>
                  </a:txBody>
                  <a:tcPr>
                    <a:solidFill>
                      <a:srgbClr val="122238"/>
                    </a:solidFill>
                  </a:tcPr>
                </a:tc>
                <a:tc>
                  <a:txBody>
                    <a:bodyPr wrap="square" tIns="73152" bIns="73152"/>
                    <a:lstStyle/>
                    <a:p>
                      <a:pPr algn="l"/>
                      <a:r>
                        <a:rPr sz="1400" b="0">
                          <a:solidFill>
                            <a:srgbClr val="E8ECF1"/>
                          </a:solidFill>
                          <a:latin typeface="Calibri"/>
                        </a:rPr>
                        <a:t>Amaru + Frustum three-witness reconciliation</a:t>
                      </a:r>
                    </a:p>
                  </a:txBody>
                  <a:tcPr>
                    <a:solidFill>
                      <a:srgbClr val="122238"/>
                    </a:solidFill>
                  </a:tcPr>
                </a:tc>
              </a:tr>
              <a:tr h="548640">
                <a:tc>
                  <a:txBody>
                    <a:bodyPr wrap="square" tIns="73152" bIns="73152"/>
                    <a:lstStyle/>
                    <a:p>
                      <a:pPr algn="l"/>
                      <a:r>
                        <a:rPr sz="1400" b="1">
                          <a:solidFill>
                            <a:srgbClr val="E8ECF1"/>
                          </a:solidFill>
                          <a:latin typeface="Calibri"/>
                        </a:rPr>
                        <a:t>Proof distribution to regulators</a:t>
                      </a:r>
                    </a:p>
                  </a:txBody>
                  <a:tcPr>
                    <a:solidFill>
                      <a:srgbClr val="0A1628"/>
                    </a:solidFill>
                  </a:tcPr>
                </a:tc>
                <a:tc>
                  <a:txBody>
                    <a:bodyPr wrap="square" tIns="73152" bIns="73152"/>
                    <a:lstStyle/>
                    <a:p>
                      <a:pPr algn="l"/>
                      <a:r>
                        <a:rPr sz="1400" b="0">
                          <a:solidFill>
                            <a:srgbClr val="E8ECF1"/>
                          </a:solidFill>
                          <a:latin typeface="Calibri"/>
                        </a:rPr>
                        <a:t>Trust Center + Trust Exchange + Public Trust Portal</a:t>
                      </a:r>
                    </a:p>
                  </a:txBody>
                  <a:tcPr>
                    <a:solidFill>
                      <a:srgbClr val="0A1628"/>
                    </a:solidFill>
                  </a:tcPr>
                </a:tc>
              </a:tr>
            </a:tbl>
          </a:graphicData>
        </a:graphic>
      </p:graphicFrame>
      <p:sp>
        <p:nvSpPr>
          <p:cNvPr id="7" name="TextBox 6"/>
          <p:cNvSpPr txBox="1"/>
          <p:nvPr/>
        </p:nvSpPr>
        <p:spPr>
          <a:xfrm>
            <a:off x="548640" y="5760720"/>
            <a:ext cx="11094415" cy="457200"/>
          </a:xfrm>
          <a:prstGeom prst="rect">
            <a:avLst/>
          </a:prstGeom>
          <a:noFill/>
        </p:spPr>
        <p:txBody>
          <a:bodyPr wrap="square" lIns="0" rIns="0" tIns="0" bIns="0" anchor="t">
            <a:spAutoFit/>
          </a:bodyPr>
          <a:lstStyle/>
          <a:p>
            <a:pPr algn="ctr">
              <a:lnSpc>
                <a:spcPct val="115000"/>
              </a:lnSpc>
            </a:pPr>
            <a:r>
              <a:rPr sz="1200" b="0" i="1">
                <a:solidFill>
                  <a:srgbClr val="C9B787"/>
                </a:solidFill>
                <a:latin typeface="Calibri"/>
              </a:rPr>
              <a:t>The Trust Plane is what closes the loop with the procurement officer — evidence packet, on demand, with chain-of-custody.</a:t>
            </a:r>
          </a:p>
        </p:txBody>
      </p:sp>
      <p:sp>
        <p:nvSpPr>
          <p:cNvPr id="8" name="Rectangle 7"/>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10" name="TextBox 9"/>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11  ·  HONEST POSITION</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What SZL Holdings is NOT claiming.</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86000"/>
            <a:ext cx="11094415" cy="3200400"/>
          </a:xfrm>
          <a:prstGeom prst="rect">
            <a:avLst/>
          </a:prstGeom>
          <a:noFill/>
        </p:spPr>
        <p:txBody>
          <a:bodyPr wrap="square" lIns="0" rIns="0" tIns="0" bIns="0">
            <a:spAutoFit/>
          </a:bodyPr>
          <a:lstStyle/>
          <a:p>
            <a:pPr algn="l">
              <a:lnSpc>
                <a:spcPct val="125000"/>
              </a:lnSpc>
              <a:spcAft>
                <a:spcPts val="800"/>
              </a:spcAft>
            </a:pPr>
            <a:r>
              <a:rPr sz="1500" b="1">
                <a:solidFill>
                  <a:srgbClr val="C9B787"/>
                </a:solidFill>
                <a:latin typeface="Calibri"/>
              </a:rPr>
              <a:t>▸  </a:t>
            </a:r>
            <a:r>
              <a:rPr sz="1500" b="0">
                <a:solidFill>
                  <a:srgbClr val="E8ECF1"/>
                </a:solidFill>
                <a:latin typeface="Calibri"/>
              </a:rPr>
              <a:t>No active federal contracts.</a:t>
            </a:r>
          </a:p>
          <a:p>
            <a:pPr algn="l">
              <a:lnSpc>
                <a:spcPct val="125000"/>
              </a:lnSpc>
              <a:spcAft>
                <a:spcPts val="800"/>
              </a:spcAft>
            </a:pPr>
            <a:r>
              <a:rPr sz="1500" b="1">
                <a:solidFill>
                  <a:srgbClr val="C9B787"/>
                </a:solidFill>
                <a:latin typeface="Calibri"/>
              </a:rPr>
              <a:t>▸  </a:t>
            </a:r>
            <a:r>
              <a:rPr sz="1500" b="0">
                <a:solidFill>
                  <a:srgbClr val="E8ECF1"/>
                </a:solidFill>
                <a:latin typeface="Calibri"/>
              </a:rPr>
              <a:t>No federal cloud authorization, no ATO, no DoD impact-level designation.</a:t>
            </a:r>
          </a:p>
          <a:p>
            <a:pPr algn="l">
              <a:lnSpc>
                <a:spcPct val="125000"/>
              </a:lnSpc>
              <a:spcAft>
                <a:spcPts val="800"/>
              </a:spcAft>
            </a:pPr>
            <a:r>
              <a:rPr sz="1500" b="1">
                <a:solidFill>
                  <a:srgbClr val="C9B787"/>
                </a:solidFill>
                <a:latin typeface="Calibri"/>
              </a:rPr>
              <a:t>▸  </a:t>
            </a:r>
            <a:r>
              <a:rPr sz="1500" b="0">
                <a:solidFill>
                  <a:srgbClr val="E8ECF1"/>
                </a:solidFill>
                <a:latin typeface="Calibri"/>
              </a:rPr>
              <a:t>No external third-party audit.</a:t>
            </a:r>
          </a:p>
          <a:p>
            <a:pPr algn="l">
              <a:lnSpc>
                <a:spcPct val="125000"/>
              </a:lnSpc>
              <a:spcAft>
                <a:spcPts val="800"/>
              </a:spcAft>
            </a:pPr>
            <a:r>
              <a:rPr sz="1500" b="1">
                <a:solidFill>
                  <a:srgbClr val="C9B787"/>
                </a:solidFill>
                <a:latin typeface="Calibri"/>
              </a:rPr>
              <a:t>▸  </a:t>
            </a:r>
            <a:r>
              <a:rPr sz="1500" b="0">
                <a:solidFill>
                  <a:srgbClr val="E8ECF1"/>
                </a:solidFill>
                <a:latin typeface="Calibri"/>
              </a:rPr>
              <a:t>No signed platform customers.</a:t>
            </a:r>
          </a:p>
          <a:p>
            <a:pPr algn="l">
              <a:lnSpc>
                <a:spcPct val="125000"/>
              </a:lnSpc>
              <a:spcAft>
                <a:spcPts val="800"/>
              </a:spcAft>
            </a:pPr>
            <a:r>
              <a:rPr sz="1500" b="1">
                <a:solidFill>
                  <a:srgbClr val="C9B787"/>
                </a:solidFill>
                <a:latin typeface="Calibri"/>
              </a:rPr>
              <a:t>▸  </a:t>
            </a:r>
            <a:r>
              <a:rPr sz="1500" b="0">
                <a:solidFill>
                  <a:srgbClr val="E8ECF1"/>
                </a:solidFill>
                <a:latin typeface="Calibri"/>
              </a:rPr>
              <a:t>Single-founder operation.</a:t>
            </a:r>
          </a:p>
          <a:p>
            <a:pPr algn="l">
              <a:lnSpc>
                <a:spcPct val="125000"/>
              </a:lnSpc>
              <a:spcAft>
                <a:spcPts val="800"/>
              </a:spcAft>
            </a:pPr>
            <a:r>
              <a:rPr sz="1500" b="1">
                <a:solidFill>
                  <a:srgbClr val="C9B787"/>
                </a:solidFill>
                <a:latin typeface="Calibri"/>
              </a:rPr>
              <a:t>▸  </a:t>
            </a:r>
            <a:r>
              <a:rPr sz="1500" b="0">
                <a:solidFill>
                  <a:srgbClr val="E8ECF1"/>
                </a:solidFill>
                <a:latin typeface="Calibri"/>
              </a:rPr>
              <a:t>All numbers in this deck are internal platform metrics. Not revenue. Not users.</a:t>
            </a:r>
          </a:p>
        </p:txBody>
      </p:sp>
      <p:sp>
        <p:nvSpPr>
          <p:cNvPr id="7" name="Rectangle 6"/>
          <p:cNvSpPr/>
          <p:nvPr/>
        </p:nvSpPr>
        <p:spPr>
          <a:xfrm>
            <a:off x="548640" y="5349240"/>
            <a:ext cx="11094415" cy="868680"/>
          </a:xfrm>
          <a:prstGeom prst="rect">
            <a:avLst/>
          </a:prstGeom>
          <a:solidFill>
            <a:srgbClr val="122238"/>
          </a:solidFill>
          <a:ln w="9525">
            <a:solidFill>
              <a:srgbClr val="C9B7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440680"/>
            <a:ext cx="10545775" cy="731520"/>
          </a:xfrm>
          <a:prstGeom prst="rect">
            <a:avLst/>
          </a:prstGeom>
          <a:noFill/>
        </p:spPr>
        <p:txBody>
          <a:bodyPr wrap="square" lIns="0" rIns="0" tIns="0" bIns="0" anchor="ctr">
            <a:spAutoFit/>
          </a:bodyPr>
          <a:lstStyle/>
          <a:p>
            <a:pPr algn="ctr">
              <a:lnSpc>
                <a:spcPct val="125000"/>
              </a:lnSpc>
            </a:pPr>
            <a:r>
              <a:rPr sz="1600" b="1" i="1">
                <a:solidFill>
                  <a:srgbClr val="C9B787"/>
                </a:solidFill>
                <a:latin typeface="Calibri"/>
              </a:rPr>
              <a:t>The strength of this position is the public proof.</a:t>
            </a:r>
          </a:p>
          <a:p>
            <a:pPr algn="ctr">
              <a:lnSpc>
                <a:spcPct val="125000"/>
              </a:lnSpc>
            </a:pPr>
            <a:r>
              <a:rPr sz="1600" b="1" i="1">
                <a:solidFill>
                  <a:srgbClr val="C9B787"/>
                </a:solidFill>
                <a:latin typeface="Calibri"/>
              </a:rPr>
              <a:t>Not pretended traction.</a:t>
            </a:r>
          </a:p>
        </p:txBody>
      </p:sp>
      <p:sp>
        <p:nvSpPr>
          <p:cNvPr id="9" name="Rectangle 8"/>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11" name="TextBox 10"/>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12  ·  DEMO PATH (5 MINUTES)</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One company. One design language. One proof spine.</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2194560"/>
          <a:ext cx="11094415" cy="3474720"/>
        </p:xfrm>
        <a:graphic>
          <a:graphicData uri="http://schemas.openxmlformats.org/drawingml/2006/table">
            <a:tbl>
              <a:tblPr firstRow="0" bandRow="0">
                <a:tableStyleId>{5C22544A-7EE6-4342-B048-85BDC9FD1C3A}</a:tableStyleId>
              </a:tblPr>
              <a:tblGrid>
                <a:gridCol w="3698138"/>
                <a:gridCol w="3698138"/>
                <a:gridCol w="3698139"/>
              </a:tblGrid>
              <a:tr h="434340">
                <a:tc>
                  <a:txBody>
                    <a:bodyPr tIns="54864" bIns="54864"/>
                    <a:lstStyle/>
                    <a:p>
                      <a:pPr algn="l"/>
                      <a:r>
                        <a:rPr sz="1200" b="1">
                          <a:solidFill>
                            <a:srgbClr val="C9B787"/>
                          </a:solidFill>
                          <a:latin typeface="Calibri"/>
                        </a:rPr>
                        <a:t>Min</a:t>
                      </a:r>
                    </a:p>
                  </a:txBody>
                  <a:tcPr>
                    <a:solidFill>
                      <a:srgbClr val="122238"/>
                    </a:solidFill>
                  </a:tcPr>
                </a:tc>
                <a:tc>
                  <a:txBody>
                    <a:bodyPr tIns="54864" bIns="54864"/>
                    <a:lstStyle/>
                    <a:p>
                      <a:pPr algn="l"/>
                      <a:r>
                        <a:rPr sz="1200" b="1">
                          <a:solidFill>
                            <a:srgbClr val="C9B787"/>
                          </a:solidFill>
                          <a:latin typeface="Calibri"/>
                        </a:rPr>
                        <a:t>Surface</a:t>
                      </a:r>
                    </a:p>
                  </a:txBody>
                  <a:tcPr>
                    <a:solidFill>
                      <a:srgbClr val="122238"/>
                    </a:solidFill>
                  </a:tcPr>
                </a:tc>
                <a:tc>
                  <a:txBody>
                    <a:bodyPr tIns="54864" bIns="54864"/>
                    <a:lstStyle/>
                    <a:p>
                      <a:pPr algn="l"/>
                      <a:r>
                        <a:rPr sz="1200" b="1">
                          <a:solidFill>
                            <a:srgbClr val="C9B787"/>
                          </a:solidFill>
                          <a:latin typeface="Calibri"/>
                        </a:rPr>
                        <a:t>Lands on</a:t>
                      </a:r>
                    </a:p>
                  </a:txBody>
                  <a:tcPr>
                    <a:solidFill>
                      <a:srgbClr val="122238"/>
                    </a:solidFill>
                  </a:tcPr>
                </a:tc>
              </a:tr>
              <a:tr h="434340">
                <a:tc>
                  <a:txBody>
                    <a:bodyPr wrap="square" tIns="73152" bIns="73152"/>
                    <a:lstStyle/>
                    <a:p>
                      <a:pPr algn="l"/>
                      <a:r>
                        <a:rPr sz="1200" b="1">
                          <a:solidFill>
                            <a:srgbClr val="C9B787"/>
                          </a:solidFill>
                          <a:latin typeface="Calibri"/>
                        </a:rPr>
                        <a:t>0:00</a:t>
                      </a:r>
                    </a:p>
                  </a:txBody>
                  <a:tcPr>
                    <a:solidFill>
                      <a:srgbClr val="0A1628"/>
                    </a:solidFill>
                  </a:tcPr>
                </a:tc>
                <a:tc>
                  <a:txBody>
                    <a:bodyPr wrap="square" tIns="73152" bIns="73152"/>
                    <a:lstStyle/>
                    <a:p>
                      <a:pPr algn="l"/>
                      <a:r>
                        <a:rPr sz="1200" b="0">
                          <a:solidFill>
                            <a:srgbClr val="E8ECF1"/>
                          </a:solidFill>
                          <a:latin typeface="Calibri"/>
                        </a:rPr>
                        <a:t>A11oy Trust Center</a:t>
                      </a:r>
                    </a:p>
                  </a:txBody>
                  <a:tcPr>
                    <a:solidFill>
                      <a:srgbClr val="0A1628"/>
                    </a:solidFill>
                  </a:tcPr>
                </a:tc>
                <a:tc>
                  <a:txBody>
                    <a:bodyPr wrap="square" tIns="73152" bIns="73152"/>
                    <a:lstStyle/>
                    <a:p>
                      <a:pPr algn="l"/>
                      <a:r>
                        <a:rPr sz="1200" b="0">
                          <a:solidFill>
                            <a:srgbClr val="E8ECF1"/>
                          </a:solidFill>
                          <a:latin typeface="Calibri"/>
                        </a:rPr>
                        <a:t>Constitutional design — proof, covenants, attestation</a:t>
                      </a:r>
                    </a:p>
                  </a:txBody>
                  <a:tcPr>
                    <a:solidFill>
                      <a:srgbClr val="0A1628"/>
                    </a:solidFill>
                  </a:tcPr>
                </a:tc>
              </a:tr>
              <a:tr h="434340">
                <a:tc>
                  <a:txBody>
                    <a:bodyPr wrap="square" tIns="73152" bIns="73152"/>
                    <a:lstStyle/>
                    <a:p>
                      <a:pPr algn="l"/>
                      <a:r>
                        <a:rPr sz="1200" b="1">
                          <a:solidFill>
                            <a:srgbClr val="C9B787"/>
                          </a:solidFill>
                          <a:latin typeface="Calibri"/>
                        </a:rPr>
                        <a:t>0:45</a:t>
                      </a:r>
                    </a:p>
                  </a:txBody>
                  <a:tcPr>
                    <a:solidFill>
                      <a:srgbClr val="122238"/>
                    </a:solidFill>
                  </a:tcPr>
                </a:tc>
                <a:tc>
                  <a:txBody>
                    <a:bodyPr wrap="square" tIns="73152" bIns="73152"/>
                    <a:lstStyle/>
                    <a:p>
                      <a:pPr algn="l"/>
                      <a:r>
                        <a:rPr sz="1200" b="0">
                          <a:solidFill>
                            <a:srgbClr val="E8ECF1"/>
                          </a:solidFill>
                          <a:latin typeface="Calibri"/>
                        </a:rPr>
                        <a:t>A11oy Command Surface</a:t>
                      </a:r>
                    </a:p>
                  </a:txBody>
                  <a:tcPr>
                    <a:solidFill>
                      <a:srgbClr val="122238"/>
                    </a:solidFill>
                  </a:tcPr>
                </a:tc>
                <a:tc>
                  <a:txBody>
                    <a:bodyPr wrap="square" tIns="73152" bIns="73152"/>
                    <a:lstStyle/>
                    <a:p>
                      <a:pPr algn="l"/>
                      <a:r>
                        <a:rPr sz="1200" b="0">
                          <a:solidFill>
                            <a:srgbClr val="E8ECF1"/>
                          </a:solidFill>
                          <a:latin typeface="Calibri"/>
                        </a:rPr>
                        <a:t>One operator pane, every domain</a:t>
                      </a:r>
                    </a:p>
                  </a:txBody>
                  <a:tcPr>
                    <a:solidFill>
                      <a:srgbClr val="122238"/>
                    </a:solidFill>
                  </a:tcPr>
                </a:tc>
              </a:tr>
              <a:tr h="434340">
                <a:tc>
                  <a:txBody>
                    <a:bodyPr wrap="square" tIns="73152" bIns="73152"/>
                    <a:lstStyle/>
                    <a:p>
                      <a:pPr algn="l"/>
                      <a:r>
                        <a:rPr sz="1200" b="1">
                          <a:solidFill>
                            <a:srgbClr val="C9B787"/>
                          </a:solidFill>
                          <a:latin typeface="Calibri"/>
                        </a:rPr>
                        <a:t>1:30</a:t>
                      </a:r>
                    </a:p>
                  </a:txBody>
                  <a:tcPr>
                    <a:solidFill>
                      <a:srgbClr val="0A1628"/>
                    </a:solidFill>
                  </a:tcPr>
                </a:tc>
                <a:tc>
                  <a:txBody>
                    <a:bodyPr wrap="square" tIns="73152" bIns="73152"/>
                    <a:lstStyle/>
                    <a:p>
                      <a:pPr algn="l"/>
                      <a:r>
                        <a:rPr sz="1200" b="0">
                          <a:solidFill>
                            <a:srgbClr val="E8ECF1"/>
                          </a:solidFill>
                          <a:latin typeface="Calibri"/>
                        </a:rPr>
                        <a:t>Amaru Dashboard</a:t>
                      </a:r>
                    </a:p>
                  </a:txBody>
                  <a:tcPr>
                    <a:solidFill>
                      <a:srgbClr val="0A1628"/>
                    </a:solidFill>
                  </a:tcPr>
                </a:tc>
                <a:tc>
                  <a:txBody>
                    <a:bodyPr wrap="square" tIns="73152" bIns="73152"/>
                    <a:lstStyle/>
                    <a:p>
                      <a:pPr algn="l"/>
                      <a:r>
                        <a:rPr sz="1200" b="0">
                          <a:solidFill>
                            <a:srgbClr val="E8ECF1"/>
                          </a:solidFill>
                          <a:latin typeface="Calibri"/>
                        </a:rPr>
                        <a:t>Data fabric throughput (live Date.now() window)</a:t>
                      </a:r>
                    </a:p>
                  </a:txBody>
                  <a:tcPr>
                    <a:solidFill>
                      <a:srgbClr val="0A1628"/>
                    </a:solidFill>
                  </a:tcPr>
                </a:tc>
              </a:tr>
              <a:tr h="434340">
                <a:tc>
                  <a:txBody>
                    <a:bodyPr wrap="square" tIns="73152" bIns="73152"/>
                    <a:lstStyle/>
                    <a:p>
                      <a:pPr algn="l"/>
                      <a:r>
                        <a:rPr sz="1200" b="1">
                          <a:solidFill>
                            <a:srgbClr val="C9B787"/>
                          </a:solidFill>
                          <a:latin typeface="Calibri"/>
                        </a:rPr>
                        <a:t>2:15</a:t>
                      </a:r>
                    </a:p>
                  </a:txBody>
                  <a:tcPr>
                    <a:solidFill>
                      <a:srgbClr val="122238"/>
                    </a:solidFill>
                  </a:tcPr>
                </a:tc>
                <a:tc>
                  <a:txBody>
                    <a:bodyPr wrap="square" tIns="73152" bIns="73152"/>
                    <a:lstStyle/>
                    <a:p>
                      <a:pPr algn="l"/>
                      <a:r>
                        <a:rPr sz="1200" b="0">
                          <a:solidFill>
                            <a:srgbClr val="E8ECF1"/>
                          </a:solidFill>
                          <a:latin typeface="Calibri"/>
                        </a:rPr>
                        <a:t>Sentra Governed Adversary Loop</a:t>
                      </a:r>
                    </a:p>
                  </a:txBody>
                  <a:tcPr>
                    <a:solidFill>
                      <a:srgbClr val="122238"/>
                    </a:solidFill>
                  </a:tcPr>
                </a:tc>
                <a:tc>
                  <a:txBody>
                    <a:bodyPr wrap="square" tIns="73152" bIns="73152"/>
                    <a:lstStyle/>
                    <a:p>
                      <a:pPr algn="l"/>
                      <a:r>
                        <a:rPr sz="1200" b="0">
                          <a:solidFill>
                            <a:srgbClr val="E8ECF1"/>
                          </a:solidFill>
                          <a:latin typeface="Calibri"/>
                        </a:rPr>
                        <a:t>Six-step proof chain Sentra ↔ A11oy</a:t>
                      </a:r>
                    </a:p>
                  </a:txBody>
                  <a:tcPr>
                    <a:solidFill>
                      <a:srgbClr val="122238"/>
                    </a:solidFill>
                  </a:tcPr>
                </a:tc>
              </a:tr>
              <a:tr h="434340">
                <a:tc>
                  <a:txBody>
                    <a:bodyPr wrap="square" tIns="73152" bIns="73152"/>
                    <a:lstStyle/>
                    <a:p>
                      <a:pPr algn="l"/>
                      <a:r>
                        <a:rPr sz="1200" b="1">
                          <a:solidFill>
                            <a:srgbClr val="C9B787"/>
                          </a:solidFill>
                          <a:latin typeface="Calibri"/>
                        </a:rPr>
                        <a:t>3:00</a:t>
                      </a:r>
                    </a:p>
                  </a:txBody>
                  <a:tcPr>
                    <a:solidFill>
                      <a:srgbClr val="0A1628"/>
                    </a:solidFill>
                  </a:tcPr>
                </a:tc>
                <a:tc>
                  <a:txBody>
                    <a:bodyPr wrap="square" tIns="73152" bIns="73152"/>
                    <a:lstStyle/>
                    <a:p>
                      <a:pPr algn="l"/>
                      <a:r>
                        <a:rPr sz="1200" b="0">
                          <a:solidFill>
                            <a:srgbClr val="E8ECF1"/>
                          </a:solidFill>
                          <a:latin typeface="Calibri"/>
                        </a:rPr>
                        <a:t>Counsel Matter Overview</a:t>
                      </a:r>
                    </a:p>
                  </a:txBody>
                  <a:tcPr>
                    <a:solidFill>
                      <a:srgbClr val="0A1628"/>
                    </a:solidFill>
                  </a:tcPr>
                </a:tc>
                <a:tc>
                  <a:txBody>
                    <a:bodyPr wrap="square" tIns="73152" bIns="73152"/>
                    <a:lstStyle/>
                    <a:p>
                      <a:pPr algn="l"/>
                      <a:r>
                        <a:rPr sz="1200" b="0">
                          <a:solidFill>
                            <a:srgbClr val="E8ECF1"/>
                          </a:solidFill>
                          <a:latin typeface="Calibri"/>
                        </a:rPr>
                        <a:t>Vertical depth — legal command</a:t>
                      </a:r>
                    </a:p>
                  </a:txBody>
                  <a:tcPr>
                    <a:solidFill>
                      <a:srgbClr val="0A1628"/>
                    </a:solidFill>
                  </a:tcPr>
                </a:tc>
              </a:tr>
              <a:tr h="434340">
                <a:tc>
                  <a:txBody>
                    <a:bodyPr wrap="square" tIns="73152" bIns="73152"/>
                    <a:lstStyle/>
                    <a:p>
                      <a:pPr algn="l"/>
                      <a:r>
                        <a:rPr sz="1200" b="1">
                          <a:solidFill>
                            <a:srgbClr val="C9B787"/>
                          </a:solidFill>
                          <a:latin typeface="Calibri"/>
                        </a:rPr>
                        <a:t>3:45</a:t>
                      </a:r>
                    </a:p>
                  </a:txBody>
                  <a:tcPr>
                    <a:solidFill>
                      <a:srgbClr val="122238"/>
                    </a:solidFill>
                  </a:tcPr>
                </a:tc>
                <a:tc>
                  <a:txBody>
                    <a:bodyPr wrap="square" tIns="73152" bIns="73152"/>
                    <a:lstStyle/>
                    <a:p>
                      <a:pPr algn="l"/>
                      <a:r>
                        <a:rPr sz="1200" b="0">
                          <a:solidFill>
                            <a:srgbClr val="E8ECF1"/>
                          </a:solidFill>
                          <a:latin typeface="Calibri"/>
                        </a:rPr>
                        <a:t>Terra Distress Engine</a:t>
                      </a:r>
                    </a:p>
                  </a:txBody>
                  <a:tcPr>
                    <a:solidFill>
                      <a:srgbClr val="122238"/>
                    </a:solidFill>
                  </a:tcPr>
                </a:tc>
                <a:tc>
                  <a:txBody>
                    <a:bodyPr wrap="square" tIns="73152" bIns="73152"/>
                    <a:lstStyle/>
                    <a:p>
                      <a:pPr algn="l"/>
                      <a:r>
                        <a:rPr sz="1200" b="0">
                          <a:solidFill>
                            <a:srgbClr val="E8ECF1"/>
                          </a:solidFill>
                          <a:latin typeface="Calibri"/>
                        </a:rPr>
                        <a:t>Vertical depth — real estate</a:t>
                      </a:r>
                    </a:p>
                  </a:txBody>
                  <a:tcPr>
                    <a:solidFill>
                      <a:srgbClr val="122238"/>
                    </a:solidFill>
                  </a:tcPr>
                </a:tc>
              </a:tr>
              <a:tr h="434340">
                <a:tc>
                  <a:txBody>
                    <a:bodyPr wrap="square" tIns="73152" bIns="73152"/>
                    <a:lstStyle/>
                    <a:p>
                      <a:pPr algn="l"/>
                      <a:r>
                        <a:rPr sz="1200" b="1">
                          <a:solidFill>
                            <a:srgbClr val="C9B787"/>
                          </a:solidFill>
                          <a:latin typeface="Calibri"/>
                        </a:rPr>
                        <a:t>4:30</a:t>
                      </a:r>
                    </a:p>
                  </a:txBody>
                  <a:tcPr>
                    <a:solidFill>
                      <a:srgbClr val="0A1628"/>
                    </a:solidFill>
                  </a:tcPr>
                </a:tc>
                <a:tc>
                  <a:txBody>
                    <a:bodyPr wrap="square" tIns="73152" bIns="73152"/>
                    <a:lstStyle/>
                    <a:p>
                      <a:pPr algn="l"/>
                      <a:r>
                        <a:rPr sz="1200" b="0">
                          <a:solidFill>
                            <a:srgbClr val="E8ECF1"/>
                          </a:solidFill>
                          <a:latin typeface="Calibri"/>
                        </a:rPr>
                        <a:t>Vessels Maritime Intelligence</a:t>
                      </a:r>
                    </a:p>
                  </a:txBody>
                  <a:tcPr>
                    <a:solidFill>
                      <a:srgbClr val="0A1628"/>
                    </a:solidFill>
                  </a:tcPr>
                </a:tc>
                <a:tc>
                  <a:txBody>
                    <a:bodyPr wrap="square" tIns="73152" bIns="73152"/>
                    <a:lstStyle/>
                    <a:p>
                      <a:pPr algn="l"/>
                      <a:r>
                        <a:rPr sz="1200" b="0">
                          <a:solidFill>
                            <a:srgbClr val="E8ECF1"/>
                          </a:solidFill>
                          <a:latin typeface="Calibri"/>
                        </a:rPr>
                        <a:t>Vertical depth — maritime ops</a:t>
                      </a:r>
                    </a:p>
                  </a:txBody>
                  <a:tcPr>
                    <a:solidFill>
                      <a:srgbClr val="0A1628"/>
                    </a:solidFill>
                  </a:tcPr>
                </a:tc>
              </a:tr>
            </a:tbl>
          </a:graphicData>
        </a:graphic>
      </p:graphicFrame>
      <p:sp>
        <p:nvSpPr>
          <p:cNvPr id="7" name="TextBox 6"/>
          <p:cNvSpPr txBox="1"/>
          <p:nvPr/>
        </p:nvSpPr>
        <p:spPr>
          <a:xfrm>
            <a:off x="548640" y="5852160"/>
            <a:ext cx="11094415" cy="365760"/>
          </a:xfrm>
          <a:prstGeom prst="rect">
            <a:avLst/>
          </a:prstGeom>
          <a:noFill/>
        </p:spPr>
        <p:txBody>
          <a:bodyPr wrap="square" lIns="0" rIns="0" tIns="0" bIns="0" anchor="t">
            <a:spAutoFit/>
          </a:bodyPr>
          <a:lstStyle/>
          <a:p>
            <a:pPr algn="ctr">
              <a:lnSpc>
                <a:spcPct val="115000"/>
              </a:lnSpc>
            </a:pPr>
            <a:r>
              <a:rPr sz="1100" b="0" i="1">
                <a:solidFill>
                  <a:srgbClr val="9AA6B8"/>
                </a:solidFill>
                <a:latin typeface="Calibri"/>
              </a:rPr>
              <a:t>Documented at docs/audits/INVESTOR_DEMO_PATH.md  ·  Per-artifact audits in docs/audits/</a:t>
            </a:r>
          </a:p>
        </p:txBody>
      </p:sp>
      <p:sp>
        <p:nvSpPr>
          <p:cNvPr id="8" name="Rectangle 7"/>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10" name="TextBox 9"/>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13  ·  90-DAY ROADMAP</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What ships next, on what calendar.</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240280"/>
            <a:ext cx="11094415" cy="91440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240280"/>
            <a:ext cx="38100" cy="9144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23160"/>
            <a:ext cx="22860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DAYS 1 – 14</a:t>
            </a:r>
          </a:p>
        </p:txBody>
      </p:sp>
      <p:sp>
        <p:nvSpPr>
          <p:cNvPr id="9" name="TextBox 8"/>
          <p:cNvSpPr txBox="1"/>
          <p:nvPr/>
        </p:nvSpPr>
        <p:spPr>
          <a:xfrm>
            <a:off x="3291840" y="2404872"/>
            <a:ext cx="8686800" cy="640080"/>
          </a:xfrm>
          <a:prstGeom prst="rect">
            <a:avLst/>
          </a:prstGeom>
          <a:noFill/>
        </p:spPr>
        <p:txBody>
          <a:bodyPr wrap="square" lIns="0" rIns="0" tIns="0" bIns="0" anchor="ctr">
            <a:spAutoFit/>
          </a:bodyPr>
          <a:lstStyle/>
          <a:p>
            <a:pPr algn="l">
              <a:lnSpc>
                <a:spcPct val="135000"/>
              </a:lnSpc>
            </a:pPr>
            <a:r>
              <a:rPr sz="1300" b="0" i="0">
                <a:solidFill>
                  <a:srgbClr val="E8ECF1"/>
                </a:solidFill>
                <a:latin typeface="Calibri"/>
              </a:rPr>
              <a:t>SAM.gov UEI activated. Primary NAICS confirmed.</a:t>
            </a:r>
          </a:p>
        </p:txBody>
      </p:sp>
      <p:sp>
        <p:nvSpPr>
          <p:cNvPr id="10" name="Rectangle 9"/>
          <p:cNvSpPr/>
          <p:nvPr/>
        </p:nvSpPr>
        <p:spPr>
          <a:xfrm>
            <a:off x="548640" y="3246120"/>
            <a:ext cx="11094415" cy="91440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46120"/>
            <a:ext cx="38100" cy="9144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429000"/>
            <a:ext cx="22860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DAYS 15 – 30</a:t>
            </a:r>
          </a:p>
        </p:txBody>
      </p:sp>
      <p:sp>
        <p:nvSpPr>
          <p:cNvPr id="13" name="TextBox 12"/>
          <p:cNvSpPr txBox="1"/>
          <p:nvPr/>
        </p:nvSpPr>
        <p:spPr>
          <a:xfrm>
            <a:off x="3291840" y="3410712"/>
            <a:ext cx="8686800" cy="640080"/>
          </a:xfrm>
          <a:prstGeom prst="rect">
            <a:avLst/>
          </a:prstGeom>
          <a:noFill/>
        </p:spPr>
        <p:txBody>
          <a:bodyPr wrap="square" lIns="0" rIns="0" tIns="0" bIns="0" anchor="ctr">
            <a:spAutoFit/>
          </a:bodyPr>
          <a:lstStyle/>
          <a:p>
            <a:pPr algn="l">
              <a:lnSpc>
                <a:spcPct val="135000"/>
              </a:lnSpc>
            </a:pPr>
            <a:r>
              <a:rPr sz="1300" b="0" i="0">
                <a:solidFill>
                  <a:srgbClr val="E8ECF1"/>
                </a:solidFill>
                <a:latin typeface="Calibri"/>
              </a:rPr>
              <a:t>CAGE issued. CMMC Level 1 self-assessment posted. First sources-sought scan pass.</a:t>
            </a:r>
          </a:p>
        </p:txBody>
      </p:sp>
      <p:sp>
        <p:nvSpPr>
          <p:cNvPr id="14" name="Rectangle 13"/>
          <p:cNvSpPr/>
          <p:nvPr/>
        </p:nvSpPr>
        <p:spPr>
          <a:xfrm>
            <a:off x="548640" y="4251960"/>
            <a:ext cx="11094415" cy="91440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251960"/>
            <a:ext cx="38100" cy="9144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434840"/>
            <a:ext cx="22860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DAYS 31 – 60</a:t>
            </a:r>
          </a:p>
        </p:txBody>
      </p:sp>
      <p:sp>
        <p:nvSpPr>
          <p:cNvPr id="17" name="TextBox 16"/>
          <p:cNvSpPr txBox="1"/>
          <p:nvPr/>
        </p:nvSpPr>
        <p:spPr>
          <a:xfrm>
            <a:off x="3291840" y="4416552"/>
            <a:ext cx="8686800" cy="640080"/>
          </a:xfrm>
          <a:prstGeom prst="rect">
            <a:avLst/>
          </a:prstGeom>
          <a:noFill/>
        </p:spPr>
        <p:txBody>
          <a:bodyPr wrap="square" lIns="0" rIns="0" tIns="0" bIns="0" anchor="ctr">
            <a:spAutoFit/>
          </a:bodyPr>
          <a:lstStyle/>
          <a:p>
            <a:pPr algn="l">
              <a:lnSpc>
                <a:spcPct val="135000"/>
              </a:lnSpc>
            </a:pPr>
            <a:r>
              <a:rPr sz="1300" b="0" i="0">
                <a:solidFill>
                  <a:srgbClr val="E8ECF1"/>
                </a:solidFill>
                <a:latin typeface="Calibri"/>
              </a:rPr>
              <a:t>First SBIR opportunity identified with APEX guidance. Per-lane CPS payloads complete for Vessels + Terra.</a:t>
            </a:r>
          </a:p>
        </p:txBody>
      </p:sp>
      <p:sp>
        <p:nvSpPr>
          <p:cNvPr id="18" name="Rectangle 17"/>
          <p:cNvSpPr/>
          <p:nvPr/>
        </p:nvSpPr>
        <p:spPr>
          <a:xfrm>
            <a:off x="548640" y="5257800"/>
            <a:ext cx="11094415" cy="914400"/>
          </a:xfrm>
          <a:prstGeom prst="rect">
            <a:avLst/>
          </a:prstGeom>
          <a:solidFill>
            <a:srgbClr val="122238"/>
          </a:solidFill>
          <a:ln w="508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257800"/>
            <a:ext cx="38100" cy="9144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440680"/>
            <a:ext cx="228600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DAYS 61 – 90</a:t>
            </a:r>
          </a:p>
        </p:txBody>
      </p:sp>
      <p:sp>
        <p:nvSpPr>
          <p:cNvPr id="21" name="TextBox 20"/>
          <p:cNvSpPr txBox="1"/>
          <p:nvPr/>
        </p:nvSpPr>
        <p:spPr>
          <a:xfrm>
            <a:off x="3291840" y="5422392"/>
            <a:ext cx="8686800" cy="640080"/>
          </a:xfrm>
          <a:prstGeom prst="rect">
            <a:avLst/>
          </a:prstGeom>
          <a:noFill/>
        </p:spPr>
        <p:txBody>
          <a:bodyPr wrap="square" lIns="0" rIns="0" tIns="0" bIns="0" anchor="ctr">
            <a:spAutoFit/>
          </a:bodyPr>
          <a:lstStyle/>
          <a:p>
            <a:pPr algn="l">
              <a:lnSpc>
                <a:spcPct val="135000"/>
              </a:lnSpc>
            </a:pPr>
            <a:r>
              <a:rPr sz="1300" b="0" i="0">
                <a:solidFill>
                  <a:srgbClr val="E8ECF1"/>
                </a:solidFill>
                <a:latin typeface="Calibri"/>
              </a:rPr>
              <a:t>First sources-sought response submitted. CPS rollout complete. v11 thesis (planned) covering CPS as a procurement protocol.</a:t>
            </a:r>
          </a:p>
        </p:txBody>
      </p:sp>
      <p:sp>
        <p:nvSpPr>
          <p:cNvPr id="22" name="TextBox 21"/>
          <p:cNvSpPr txBox="1"/>
          <p:nvPr/>
        </p:nvSpPr>
        <p:spPr>
          <a:xfrm>
            <a:off x="548640" y="6355080"/>
            <a:ext cx="11094415" cy="274320"/>
          </a:xfrm>
          <a:prstGeom prst="rect">
            <a:avLst/>
          </a:prstGeom>
          <a:noFill/>
        </p:spPr>
        <p:txBody>
          <a:bodyPr wrap="square" lIns="0" rIns="0" tIns="0" bIns="0" anchor="t">
            <a:spAutoFit/>
          </a:bodyPr>
          <a:lstStyle/>
          <a:p>
            <a:pPr algn="ctr">
              <a:lnSpc>
                <a:spcPct val="115000"/>
              </a:lnSpc>
            </a:pPr>
            <a:r>
              <a:rPr sz="1100" b="0" i="1">
                <a:solidFill>
                  <a:srgbClr val="C9B787"/>
                </a:solidFill>
                <a:latin typeface="Calibri"/>
              </a:rPr>
              <a:t>If we miss a date, we say why and reset publicly.</a:t>
            </a:r>
          </a:p>
        </p:txBody>
      </p:sp>
      <p:sp>
        <p:nvSpPr>
          <p:cNvPr id="23" name="Rectangle 22"/>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25" name="TextBox 24"/>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7315200" cy="274320"/>
          </a:xfrm>
          <a:prstGeom prst="rect">
            <a:avLst/>
          </a:prstGeom>
          <a:noFill/>
        </p:spPr>
        <p:txBody>
          <a:bodyPr wrap="square" lIns="0" rIns="0" tIns="0" bIns="0" anchor="t">
            <a:spAutoFit/>
          </a:bodyPr>
          <a:lstStyle/>
          <a:p>
            <a:pPr algn="l">
              <a:lnSpc>
                <a:spcPct val="115000"/>
              </a:lnSpc>
            </a:pPr>
            <a:r>
              <a:rPr sz="1000" b="1" i="0">
                <a:solidFill>
                  <a:srgbClr val="C9B787"/>
                </a:solidFill>
                <a:latin typeface="Calibri"/>
              </a:rPr>
              <a:t>14  ·  THE ASK</a:t>
            </a:r>
          </a:p>
        </p:txBody>
      </p:sp>
      <p:sp>
        <p:nvSpPr>
          <p:cNvPr id="4" name="TextBox 3"/>
          <p:cNvSpPr txBox="1"/>
          <p:nvPr/>
        </p:nvSpPr>
        <p:spPr>
          <a:xfrm>
            <a:off x="548640" y="502920"/>
            <a:ext cx="11094415" cy="822960"/>
          </a:xfrm>
          <a:prstGeom prst="rect">
            <a:avLst/>
          </a:prstGeom>
          <a:noFill/>
        </p:spPr>
        <p:txBody>
          <a:bodyPr wrap="square" lIns="0" rIns="0" tIns="0" bIns="0" anchor="t">
            <a:spAutoFit/>
          </a:bodyPr>
          <a:lstStyle/>
          <a:p>
            <a:pPr algn="l">
              <a:lnSpc>
                <a:spcPct val="115000"/>
              </a:lnSpc>
            </a:pPr>
            <a:r>
              <a:rPr sz="3200" b="1" i="0">
                <a:solidFill>
                  <a:srgbClr val="E8ECF1"/>
                </a:solidFill>
                <a:latin typeface="Calibri"/>
              </a:rPr>
              <a:t>What we need from you.</a:t>
            </a:r>
          </a:p>
        </p:txBody>
      </p:sp>
      <p:sp>
        <p:nvSpPr>
          <p:cNvPr id="5" name="Rectangle 4"/>
          <p:cNvSpPr/>
          <p:nvPr/>
        </p:nvSpPr>
        <p:spPr>
          <a:xfrm>
            <a:off x="548640" y="1371600"/>
            <a:ext cx="54864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5147" y="2240280"/>
            <a:ext cx="5486400" cy="169164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95147" y="2240280"/>
            <a:ext cx="548640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9467" y="2423160"/>
            <a:ext cx="493776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PROCUREMENT COUNSEL</a:t>
            </a:r>
          </a:p>
        </p:txBody>
      </p:sp>
      <p:sp>
        <p:nvSpPr>
          <p:cNvPr id="9" name="TextBox 8"/>
          <p:cNvSpPr txBox="1"/>
          <p:nvPr/>
        </p:nvSpPr>
        <p:spPr>
          <a:xfrm>
            <a:off x="769467" y="2834640"/>
            <a:ext cx="4937760" cy="1097280"/>
          </a:xfrm>
          <a:prstGeom prst="rect">
            <a:avLst/>
          </a:prstGeom>
          <a:noFill/>
        </p:spPr>
        <p:txBody>
          <a:bodyPr wrap="square" lIns="0" rIns="0" tIns="0" bIns="0" anchor="t">
            <a:spAutoFit/>
          </a:bodyPr>
          <a:lstStyle/>
          <a:p>
            <a:pPr algn="l">
              <a:lnSpc>
                <a:spcPct val="140000"/>
              </a:lnSpc>
            </a:pPr>
            <a:r>
              <a:rPr sz="1300" b="0" i="0">
                <a:solidFill>
                  <a:srgbClr val="E8ECF1"/>
                </a:solidFill>
                <a:latin typeface="Calibri"/>
              </a:rPr>
              <a:t>Most credible NYS pathway. Most credible federal pathway. Set-aside eligibility review.</a:t>
            </a:r>
          </a:p>
        </p:txBody>
      </p:sp>
      <p:sp>
        <p:nvSpPr>
          <p:cNvPr id="10" name="Rectangle 9"/>
          <p:cNvSpPr/>
          <p:nvPr/>
        </p:nvSpPr>
        <p:spPr>
          <a:xfrm>
            <a:off x="6210147" y="2240280"/>
            <a:ext cx="5486400" cy="169164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0147" y="2240280"/>
            <a:ext cx="548640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4467" y="2423160"/>
            <a:ext cx="493776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CAPABILITY-STATEMENT FORMAT GUIDANCE</a:t>
            </a:r>
          </a:p>
        </p:txBody>
      </p:sp>
      <p:sp>
        <p:nvSpPr>
          <p:cNvPr id="13" name="TextBox 12"/>
          <p:cNvSpPr txBox="1"/>
          <p:nvPr/>
        </p:nvSpPr>
        <p:spPr>
          <a:xfrm>
            <a:off x="6484467" y="2834640"/>
            <a:ext cx="4937760" cy="1097280"/>
          </a:xfrm>
          <a:prstGeom prst="rect">
            <a:avLst/>
          </a:prstGeom>
          <a:noFill/>
        </p:spPr>
        <p:txBody>
          <a:bodyPr wrap="square" lIns="0" rIns="0" tIns="0" bIns="0" anchor="t">
            <a:spAutoFit/>
          </a:bodyPr>
          <a:lstStyle/>
          <a:p>
            <a:pPr algn="l">
              <a:lnSpc>
                <a:spcPct val="140000"/>
              </a:lnSpc>
            </a:pPr>
            <a:r>
              <a:rPr sz="1300" b="0" i="0">
                <a:solidFill>
                  <a:srgbClr val="E8ECF1"/>
                </a:solidFill>
                <a:latin typeface="Calibri"/>
              </a:rPr>
              <a:t>What NYS and federal procurement officers actually want on the page.</a:t>
            </a:r>
          </a:p>
        </p:txBody>
      </p:sp>
      <p:sp>
        <p:nvSpPr>
          <p:cNvPr id="14" name="Rectangle 13"/>
          <p:cNvSpPr/>
          <p:nvPr/>
        </p:nvSpPr>
        <p:spPr>
          <a:xfrm>
            <a:off x="495147" y="4160520"/>
            <a:ext cx="5486400" cy="169164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5147" y="4160520"/>
            <a:ext cx="548640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9467" y="4343400"/>
            <a:ext cx="493776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TARGETING</a:t>
            </a:r>
          </a:p>
        </p:txBody>
      </p:sp>
      <p:sp>
        <p:nvSpPr>
          <p:cNvPr id="17" name="TextBox 16"/>
          <p:cNvSpPr txBox="1"/>
          <p:nvPr/>
        </p:nvSpPr>
        <p:spPr>
          <a:xfrm>
            <a:off x="769467" y="4754880"/>
            <a:ext cx="4937760" cy="1097280"/>
          </a:xfrm>
          <a:prstGeom prst="rect">
            <a:avLst/>
          </a:prstGeom>
          <a:noFill/>
        </p:spPr>
        <p:txBody>
          <a:bodyPr wrap="square" lIns="0" rIns="0" tIns="0" bIns="0" anchor="t">
            <a:spAutoFit/>
          </a:bodyPr>
          <a:lstStyle/>
          <a:p>
            <a:pPr algn="l">
              <a:lnSpc>
                <a:spcPct val="140000"/>
              </a:lnSpc>
            </a:pPr>
            <a:r>
              <a:rPr sz="1300" b="0" i="0">
                <a:solidFill>
                  <a:srgbClr val="E8ECF1"/>
                </a:solidFill>
                <a:latin typeface="Calibri"/>
              </a:rPr>
              <a:t>Which agencies buy this kind of work — and which buy it from sole-founder firms.</a:t>
            </a:r>
          </a:p>
        </p:txBody>
      </p:sp>
      <p:sp>
        <p:nvSpPr>
          <p:cNvPr id="18" name="Rectangle 17"/>
          <p:cNvSpPr/>
          <p:nvPr/>
        </p:nvSpPr>
        <p:spPr>
          <a:xfrm>
            <a:off x="6210147" y="4160520"/>
            <a:ext cx="5486400" cy="1691640"/>
          </a:xfrm>
          <a:prstGeom prst="rect">
            <a:avLst/>
          </a:prstGeom>
          <a:solidFill>
            <a:srgbClr val="122238"/>
          </a:solidFill>
          <a:ln w="6350">
            <a:solidFill>
              <a:srgbClr val="2A38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0147" y="4160520"/>
            <a:ext cx="5486400" cy="2857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4467" y="4343400"/>
            <a:ext cx="4937760" cy="365760"/>
          </a:xfrm>
          <a:prstGeom prst="rect">
            <a:avLst/>
          </a:prstGeom>
          <a:noFill/>
        </p:spPr>
        <p:txBody>
          <a:bodyPr wrap="square" lIns="0" rIns="0" tIns="0" bIns="0" anchor="t">
            <a:spAutoFit/>
          </a:bodyPr>
          <a:lstStyle/>
          <a:p>
            <a:pPr algn="l">
              <a:lnSpc>
                <a:spcPct val="115000"/>
              </a:lnSpc>
            </a:pPr>
            <a:r>
              <a:rPr sz="1200" b="1" i="0">
                <a:solidFill>
                  <a:srgbClr val="C9B787"/>
                </a:solidFill>
                <a:latin typeface="Calibri"/>
              </a:rPr>
              <a:t>INTRODUCTIONS</a:t>
            </a:r>
          </a:p>
        </p:txBody>
      </p:sp>
      <p:sp>
        <p:nvSpPr>
          <p:cNvPr id="21" name="TextBox 20"/>
          <p:cNvSpPr txBox="1"/>
          <p:nvPr/>
        </p:nvSpPr>
        <p:spPr>
          <a:xfrm>
            <a:off x="6484467" y="4754880"/>
            <a:ext cx="4937760" cy="1097280"/>
          </a:xfrm>
          <a:prstGeom prst="rect">
            <a:avLst/>
          </a:prstGeom>
          <a:noFill/>
        </p:spPr>
        <p:txBody>
          <a:bodyPr wrap="square" lIns="0" rIns="0" tIns="0" bIns="0" anchor="t">
            <a:spAutoFit/>
          </a:bodyPr>
          <a:lstStyle/>
          <a:p>
            <a:pPr algn="l">
              <a:lnSpc>
                <a:spcPct val="140000"/>
              </a:lnSpc>
            </a:pPr>
            <a:r>
              <a:rPr sz="1300" b="0" i="0">
                <a:solidFill>
                  <a:srgbClr val="E8ECF1"/>
                </a:solidFill>
                <a:latin typeface="Calibri"/>
              </a:rPr>
              <a:t>To the first procurement officer who will read the v9 thesis and the CPS API spec and ask the next question.</a:t>
            </a:r>
          </a:p>
        </p:txBody>
      </p:sp>
      <p:sp>
        <p:nvSpPr>
          <p:cNvPr id="22" name="TextBox 21"/>
          <p:cNvSpPr txBox="1"/>
          <p:nvPr/>
        </p:nvSpPr>
        <p:spPr>
          <a:xfrm>
            <a:off x="548640" y="6126480"/>
            <a:ext cx="11094415" cy="365760"/>
          </a:xfrm>
          <a:prstGeom prst="rect">
            <a:avLst/>
          </a:prstGeom>
          <a:noFill/>
        </p:spPr>
        <p:txBody>
          <a:bodyPr wrap="square" lIns="0" rIns="0" tIns="0" bIns="0" anchor="t">
            <a:spAutoFit/>
          </a:bodyPr>
          <a:lstStyle/>
          <a:p>
            <a:pPr algn="ctr">
              <a:lnSpc>
                <a:spcPct val="115000"/>
              </a:lnSpc>
            </a:pPr>
            <a:r>
              <a:rPr sz="1300" b="1" i="1">
                <a:solidFill>
                  <a:srgbClr val="C9B787"/>
                </a:solidFill>
                <a:latin typeface="Calibri"/>
              </a:rPr>
              <a:t>This is not a fundraising ask.  This is a sponsorship-of-readiness ask.</a:t>
            </a:r>
          </a:p>
        </p:txBody>
      </p:sp>
      <p:sp>
        <p:nvSpPr>
          <p:cNvPr id="23" name="Rectangle 22"/>
          <p:cNvSpPr/>
          <p:nvPr/>
        </p:nvSpPr>
        <p:spPr>
          <a:xfrm>
            <a:off x="548640" y="6446520"/>
            <a:ext cx="11094415" cy="9525"/>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6537960"/>
            <a:ext cx="7315200" cy="274320"/>
          </a:xfrm>
          <a:prstGeom prst="rect">
            <a:avLst/>
          </a:prstGeom>
          <a:noFill/>
        </p:spPr>
        <p:txBody>
          <a:bodyPr wrap="square" lIns="0" rIns="0" tIns="0" bIns="0" anchor="t">
            <a:spAutoFit/>
          </a:bodyPr>
          <a:lstStyle/>
          <a:p>
            <a:pPr algn="l">
              <a:lnSpc>
                <a:spcPct val="115000"/>
              </a:lnSpc>
            </a:pPr>
            <a:r>
              <a:rPr sz="800" b="0" i="0">
                <a:solidFill>
                  <a:srgbClr val="9AA6B8"/>
                </a:solidFill>
                <a:latin typeface="Calibri"/>
              </a:rPr>
              <a:t>SZL HOLDINGS  ·  GOVERNED OPERATIONAL INTELLIGENCE  ·  CONFIDENTIAL</a:t>
            </a:r>
          </a:p>
        </p:txBody>
      </p:sp>
      <p:sp>
        <p:nvSpPr>
          <p:cNvPr id="25" name="TextBox 24"/>
          <p:cNvSpPr txBox="1"/>
          <p:nvPr/>
        </p:nvSpPr>
        <p:spPr>
          <a:xfrm>
            <a:off x="9357055" y="6537960"/>
            <a:ext cx="2286000" cy="274320"/>
          </a:xfrm>
          <a:prstGeom prst="rect">
            <a:avLst/>
          </a:prstGeom>
          <a:noFill/>
        </p:spPr>
        <p:txBody>
          <a:bodyPr wrap="square" lIns="0" rIns="0" tIns="0" bIns="0" anchor="t">
            <a:spAutoFit/>
          </a:bodyPr>
          <a:lstStyle/>
          <a:p>
            <a:pPr algn="r">
              <a:lnSpc>
                <a:spcPct val="115000"/>
              </a:lnSpc>
            </a:pPr>
            <a:r>
              <a:rPr sz="800" b="0" i="0">
                <a:solidFill>
                  <a:srgbClr val="9AA6B8"/>
                </a:solidFill>
                <a:latin typeface="Calibri"/>
              </a:rPr>
              <a:t>MAY 5, 2026   ·   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7315200" cy="365760"/>
          </a:xfrm>
          <a:prstGeom prst="rect">
            <a:avLst/>
          </a:prstGeom>
          <a:noFill/>
        </p:spPr>
        <p:txBody>
          <a:bodyPr wrap="square" lIns="0" rIns="0" tIns="0" bIns="0" anchor="t">
            <a:spAutoFit/>
          </a:bodyPr>
          <a:lstStyle/>
          <a:p>
            <a:pPr algn="l">
              <a:lnSpc>
                <a:spcPct val="115000"/>
              </a:lnSpc>
            </a:pPr>
            <a:r>
              <a:rPr sz="1100" b="1" i="0">
                <a:solidFill>
                  <a:srgbClr val="C9B787"/>
                </a:solidFill>
                <a:latin typeface="Calibri"/>
              </a:rPr>
              <a:t>CLOSE  ·  16 / 16</a:t>
            </a:r>
          </a:p>
        </p:txBody>
      </p:sp>
      <p:sp>
        <p:nvSpPr>
          <p:cNvPr id="5" name="TextBox 4"/>
          <p:cNvSpPr txBox="1"/>
          <p:nvPr/>
        </p:nvSpPr>
        <p:spPr>
          <a:xfrm>
            <a:off x="640080" y="1371600"/>
            <a:ext cx="10515600" cy="822960"/>
          </a:xfrm>
          <a:prstGeom prst="rect">
            <a:avLst/>
          </a:prstGeom>
          <a:noFill/>
        </p:spPr>
        <p:txBody>
          <a:bodyPr wrap="square" lIns="0" rIns="0" tIns="0" bIns="0" anchor="t">
            <a:spAutoFit/>
          </a:bodyPr>
          <a:lstStyle/>
          <a:p>
            <a:pPr algn="l">
              <a:lnSpc>
                <a:spcPct val="115000"/>
              </a:lnSpc>
            </a:pPr>
            <a:r>
              <a:rPr sz="4200" b="1" i="0">
                <a:solidFill>
                  <a:srgbClr val="E8ECF1"/>
                </a:solidFill>
                <a:latin typeface="Calibri"/>
              </a:rPr>
              <a:t>The math is written down.</a:t>
            </a:r>
          </a:p>
        </p:txBody>
      </p:sp>
      <p:sp>
        <p:nvSpPr>
          <p:cNvPr id="6" name="TextBox 5"/>
          <p:cNvSpPr txBox="1"/>
          <p:nvPr/>
        </p:nvSpPr>
        <p:spPr>
          <a:xfrm>
            <a:off x="640080" y="2240280"/>
            <a:ext cx="10515600" cy="822960"/>
          </a:xfrm>
          <a:prstGeom prst="rect">
            <a:avLst/>
          </a:prstGeom>
          <a:noFill/>
        </p:spPr>
        <p:txBody>
          <a:bodyPr wrap="square" lIns="0" rIns="0" tIns="0" bIns="0" anchor="t">
            <a:spAutoFit/>
          </a:bodyPr>
          <a:lstStyle/>
          <a:p>
            <a:pPr algn="l">
              <a:lnSpc>
                <a:spcPct val="115000"/>
              </a:lnSpc>
            </a:pPr>
            <a:r>
              <a:rPr sz="4200" b="1" i="0">
                <a:solidFill>
                  <a:srgbClr val="E8ECF1"/>
                </a:solidFill>
                <a:latin typeface="Calibri"/>
              </a:rPr>
              <a:t>The runtime is open source.</a:t>
            </a:r>
          </a:p>
        </p:txBody>
      </p:sp>
      <p:sp>
        <p:nvSpPr>
          <p:cNvPr id="7" name="TextBox 6"/>
          <p:cNvSpPr txBox="1"/>
          <p:nvPr/>
        </p:nvSpPr>
        <p:spPr>
          <a:xfrm>
            <a:off x="640080" y="3108960"/>
            <a:ext cx="10515600" cy="822960"/>
          </a:xfrm>
          <a:prstGeom prst="rect">
            <a:avLst/>
          </a:prstGeom>
          <a:noFill/>
        </p:spPr>
        <p:txBody>
          <a:bodyPr wrap="square" lIns="0" rIns="0" tIns="0" bIns="0" anchor="t">
            <a:spAutoFit/>
          </a:bodyPr>
          <a:lstStyle/>
          <a:p>
            <a:pPr algn="l">
              <a:lnSpc>
                <a:spcPct val="115000"/>
              </a:lnSpc>
            </a:pPr>
            <a:r>
              <a:rPr sz="4200" b="1" i="0">
                <a:solidFill>
                  <a:srgbClr val="C9B787"/>
                </a:solidFill>
                <a:latin typeface="Calibri"/>
              </a:rPr>
              <a:t>The proof is a hash chain.</a:t>
            </a:r>
          </a:p>
        </p:txBody>
      </p:sp>
      <p:sp>
        <p:nvSpPr>
          <p:cNvPr id="8" name="Rectangle 7"/>
          <p:cNvSpPr/>
          <p:nvPr/>
        </p:nvSpPr>
        <p:spPr>
          <a:xfrm>
            <a:off x="640080" y="4160520"/>
            <a:ext cx="1828800" cy="19050"/>
          </a:xfrm>
          <a:prstGeom prst="rect">
            <a:avLst/>
          </a:prstGeom>
          <a:solidFill>
            <a:srgbClr val="C9B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297680"/>
            <a:ext cx="10515600" cy="640080"/>
          </a:xfrm>
          <a:prstGeom prst="rect">
            <a:avLst/>
          </a:prstGeom>
          <a:noFill/>
        </p:spPr>
        <p:txBody>
          <a:bodyPr wrap="square" lIns="0" rIns="0" tIns="0" bIns="0" anchor="t">
            <a:spAutoFit/>
          </a:bodyPr>
          <a:lstStyle/>
          <a:p>
            <a:pPr algn="l">
              <a:lnSpc>
                <a:spcPct val="125000"/>
              </a:lnSpc>
            </a:pPr>
            <a:r>
              <a:rPr sz="2000" b="0" i="1">
                <a:solidFill>
                  <a:srgbClr val="E8ECF1"/>
                </a:solidFill>
                <a:latin typeface="Calibri"/>
              </a:rPr>
              <a:t>We are building the platform that makes governed AI procurable.</a:t>
            </a:r>
          </a:p>
        </p:txBody>
      </p:sp>
      <p:sp>
        <p:nvSpPr>
          <p:cNvPr id="10" name="TextBox 9"/>
          <p:cNvSpPr txBox="1"/>
          <p:nvPr/>
        </p:nvSpPr>
        <p:spPr>
          <a:xfrm>
            <a:off x="640080" y="5349240"/>
            <a:ext cx="10515600" cy="320040"/>
          </a:xfrm>
          <a:prstGeom prst="rect">
            <a:avLst/>
          </a:prstGeom>
          <a:noFill/>
        </p:spPr>
        <p:txBody>
          <a:bodyPr wrap="square" lIns="0" rIns="0" tIns="0" bIns="0" anchor="t">
            <a:spAutoFit/>
          </a:bodyPr>
          <a:lstStyle/>
          <a:p>
            <a:pPr algn="l">
              <a:lnSpc>
                <a:spcPct val="115000"/>
              </a:lnSpc>
            </a:pPr>
            <a:r>
              <a:rPr sz="1400" b="1" i="0">
                <a:solidFill>
                  <a:srgbClr val="E8ECF1"/>
                </a:solidFill>
                <a:latin typeface="Calibri"/>
              </a:rPr>
              <a:t>Stephen Lutar</a:t>
            </a:r>
          </a:p>
        </p:txBody>
      </p:sp>
      <p:sp>
        <p:nvSpPr>
          <p:cNvPr id="11" name="TextBox 10"/>
          <p:cNvSpPr txBox="1"/>
          <p:nvPr/>
        </p:nvSpPr>
        <p:spPr>
          <a:xfrm>
            <a:off x="640080" y="5623560"/>
            <a:ext cx="10515600" cy="274320"/>
          </a:xfrm>
          <a:prstGeom prst="rect">
            <a:avLst/>
          </a:prstGeom>
          <a:noFill/>
        </p:spPr>
        <p:txBody>
          <a:bodyPr wrap="square" lIns="0" rIns="0" tIns="0" bIns="0" anchor="t">
            <a:spAutoFit/>
          </a:bodyPr>
          <a:lstStyle/>
          <a:p>
            <a:pPr algn="l">
              <a:lnSpc>
                <a:spcPct val="115000"/>
              </a:lnSpc>
            </a:pPr>
            <a:r>
              <a:rPr sz="1100" b="0" i="0">
                <a:solidFill>
                  <a:srgbClr val="9AA6B8"/>
                </a:solidFill>
                <a:latin typeface="Calibri"/>
              </a:rPr>
              <a:t>stephenlutar2@gmail.com  ·  github.com/szl-holdings  ·  ORCID 0009-0001-0110-4173</a:t>
            </a:r>
          </a:p>
        </p:txBody>
      </p:sp>
      <p:sp>
        <p:nvSpPr>
          <p:cNvPr id="12" name="TextBox 11"/>
          <p:cNvSpPr txBox="1"/>
          <p:nvPr/>
        </p:nvSpPr>
        <p:spPr>
          <a:xfrm>
            <a:off x="640080" y="5943600"/>
            <a:ext cx="10515600" cy="274320"/>
          </a:xfrm>
          <a:prstGeom prst="rect">
            <a:avLst/>
          </a:prstGeom>
          <a:noFill/>
        </p:spPr>
        <p:txBody>
          <a:bodyPr wrap="square" lIns="0" rIns="0" tIns="0" bIns="0" anchor="t">
            <a:spAutoFit/>
          </a:bodyPr>
          <a:lstStyle/>
          <a:p>
            <a:pPr algn="l">
              <a:lnSpc>
                <a:spcPct val="115000"/>
              </a:lnSpc>
            </a:pPr>
            <a:r>
              <a:rPr sz="1100" b="0" i="0">
                <a:solidFill>
                  <a:srgbClr val="9AA6B8"/>
                </a:solidFill>
                <a:latin typeface="Calibri"/>
              </a:rPr>
              <a:t>Ouroboros Runtime: github.com/szl-holdings/ouroboros (v6.2.0)</a:t>
            </a:r>
          </a:p>
        </p:txBody>
      </p:sp>
      <p:sp>
        <p:nvSpPr>
          <p:cNvPr id="13" name="TextBox 12"/>
          <p:cNvSpPr txBox="1"/>
          <p:nvPr/>
        </p:nvSpPr>
        <p:spPr>
          <a:xfrm>
            <a:off x="640080" y="6217920"/>
            <a:ext cx="10515600" cy="274320"/>
          </a:xfrm>
          <a:prstGeom prst="rect">
            <a:avLst/>
          </a:prstGeom>
          <a:noFill/>
        </p:spPr>
        <p:txBody>
          <a:bodyPr wrap="square" lIns="0" rIns="0" tIns="0" bIns="0" anchor="t">
            <a:spAutoFit/>
          </a:bodyPr>
          <a:lstStyle/>
          <a:p>
            <a:pPr algn="l">
              <a:lnSpc>
                <a:spcPct val="115000"/>
              </a:lnSpc>
            </a:pPr>
            <a:r>
              <a:rPr sz="1100" b="0" i="0">
                <a:solidFill>
                  <a:srgbClr val="9AA6B8"/>
                </a:solidFill>
                <a:latin typeface="Calibri"/>
              </a:rPr>
              <a:t>Ouroboros Thesis:  github.com/szl-holdings/ouroboros-thesis (v3, v9, v10)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